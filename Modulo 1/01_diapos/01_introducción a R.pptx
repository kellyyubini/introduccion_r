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 bookmarkIdSeed="10">
  <p:sldMasterIdLst>
    <p:sldMasterId id="2147483648" r:id="rId1"/>
    <p:sldMasterId id="2147483660" r:id="rId2"/>
  </p:sldMasterIdLst>
  <p:notesMasterIdLst>
    <p:notesMasterId r:id="rId45"/>
  </p:notesMasterIdLst>
  <p:sldIdLst>
    <p:sldId id="256" r:id="rId3"/>
    <p:sldId id="350" r:id="rId4"/>
    <p:sldId id="405" r:id="rId5"/>
    <p:sldId id="1006" r:id="rId6"/>
    <p:sldId id="1007" r:id="rId7"/>
    <p:sldId id="1010" r:id="rId8"/>
    <p:sldId id="1023" r:id="rId9"/>
    <p:sldId id="271" r:id="rId10"/>
    <p:sldId id="357" r:id="rId11"/>
    <p:sldId id="1012" r:id="rId12"/>
    <p:sldId id="426" r:id="rId13"/>
    <p:sldId id="1013" r:id="rId14"/>
    <p:sldId id="1011" r:id="rId15"/>
    <p:sldId id="1014" r:id="rId16"/>
    <p:sldId id="1016" r:id="rId17"/>
    <p:sldId id="407" r:id="rId18"/>
    <p:sldId id="332" r:id="rId19"/>
    <p:sldId id="336" r:id="rId20"/>
    <p:sldId id="337" r:id="rId21"/>
    <p:sldId id="338" r:id="rId22"/>
    <p:sldId id="339" r:id="rId23"/>
    <p:sldId id="1021" r:id="rId24"/>
    <p:sldId id="328" r:id="rId25"/>
    <p:sldId id="272" r:id="rId26"/>
    <p:sldId id="1018" r:id="rId27"/>
    <p:sldId id="324" r:id="rId28"/>
    <p:sldId id="331" r:id="rId29"/>
    <p:sldId id="1019" r:id="rId30"/>
    <p:sldId id="1020" r:id="rId31"/>
    <p:sldId id="343" r:id="rId32"/>
    <p:sldId id="1015" r:id="rId33"/>
    <p:sldId id="1022" r:id="rId34"/>
    <p:sldId id="345" r:id="rId35"/>
    <p:sldId id="346" r:id="rId36"/>
    <p:sldId id="347" r:id="rId37"/>
    <p:sldId id="348" r:id="rId38"/>
    <p:sldId id="349" r:id="rId39"/>
    <p:sldId id="1017" r:id="rId40"/>
    <p:sldId id="351" r:id="rId41"/>
    <p:sldId id="428" r:id="rId42"/>
    <p:sldId id="1008" r:id="rId43"/>
    <p:sldId id="1002" r:id="rId44"/>
  </p:sldIdLst>
  <p:sldSz cx="12192000" cy="6858000"/>
  <p:notesSz cx="6858000" cy="9144000"/>
  <p:embeddedFontLst>
    <p:embeddedFont>
      <p:font typeface="Consolas" panose="020B0609020204030204" pitchFamily="49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1" roundtripDataSignature="AMtx7mjdMg4I/qBVaKYAgd9OBdhJkmjK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785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484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font" Target="fonts/font2.fntdata"/><Relationship Id="rId84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82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81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font" Target="fonts/font3.fntdata"/><Relationship Id="rId8" Type="http://schemas.openxmlformats.org/officeDocument/2006/relationships/slide" Target="slides/slide6.xml"/><Relationship Id="rId85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1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11562D65-E44D-02FD-56D5-8AA0889BA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669FE382-F736-BCE9-9C7C-E35C3653BB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482A0BB3-AE57-73BC-47BB-8620851348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782C1440-60EF-4279-56CF-871EB8362D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433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1F9EEDF2-76E3-A22E-3FB9-B9728D974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3B47CA5C-9248-6764-6E1C-D3885C689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F58A4449-2EF6-3E37-084A-DCFB857590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B77F843B-ADA0-368D-B890-D059E0F5EB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3898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6E643804-6812-D678-AB61-C8F803BC6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2E3A5B00-E24B-FE39-A0FF-F543DFDED7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D99F847B-3E7A-6100-8ADA-49A0FD63CA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458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25728B34-4260-F944-38D5-F0E222767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8C3BDB12-CBCA-2EB2-959D-F285240651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4446F364-9A51-9864-4714-A9D33E2A3D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25693AE7-9176-C84D-4BF2-EA00207801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671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CC756751-8CEA-B04A-D92A-C069753EA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884CA18A-C981-4BA0-816F-754F32B82D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AD2272C2-4B17-ECF8-F6AB-B4FB4D0382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C5F03E08-549F-1A23-588A-085D79963F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8510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3B22BA1-D7B1-9D05-9B5B-D547AE117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8BDF9A75-8D72-0EB7-015F-A774356D01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6B4BD78E-DBE8-4099-8A7E-3BE4C80537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BDD94E95-54B7-E7E4-4FA9-6FAFA53068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4759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D53E0DBF-0022-75F7-44B9-7BF2112CE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0B9D08DF-404C-DE98-DE83-1163E30759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7642325B-69C5-864B-3E41-6FFAB1DB6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8756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ED99A1E3-BA55-F794-AE94-A0BD59567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D3011589-9E17-0FC8-CA3B-9D738A27E1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E450E471-BC0D-1DB1-F843-2E845ADDE1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0091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59629BCC-9BBE-6444-FEC7-F6ED9F16C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F662A4E4-E612-3839-673D-27AAD90247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278AAE8F-2D92-9BB4-84A2-EC92D6BEFC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266627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E682F781-D5DA-2B39-1072-34D1900B0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049E3B7C-33E4-F3FB-8ECD-BA0FBBB184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3CE81B26-C6BB-E487-00A6-D549B0ACC2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615183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0F0E9191-F6DB-A373-D858-21B54AA05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4146B9F1-C256-F899-F588-BD0D0BE0D0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3B3CEC2C-3DEE-5100-E698-AD1561A76D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F84C0C3F-C6A3-C0A8-A0A8-97A6AB152E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07773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72205F10-8F60-D871-5B0C-149950239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94B46959-6DDB-B96D-6960-ECF7B78609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05B38906-4DE8-D155-36A5-1690E11C89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6022DB7B-16B4-CFB5-BECA-76CB071293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65409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06F5F9BC-147C-224F-197E-BE17A7715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04AC0550-135A-E23E-0237-2F5F1A275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5DEF8BAD-814E-6930-CC10-C769BE73BF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60817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6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6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9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9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9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3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0"/>
          <p:cNvSpPr txBox="1">
            <a:spLocks noGrp="1"/>
          </p:cNvSpPr>
          <p:nvPr>
            <p:ph type="body" idx="3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30"/>
          <p:cNvSpPr txBox="1">
            <a:spLocks noGrp="1"/>
          </p:cNvSpPr>
          <p:nvPr>
            <p:ph type="body" idx="4"/>
          </p:nvPr>
        </p:nvSpPr>
        <p:spPr>
          <a:xfrm>
            <a:off x="6172202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0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0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0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1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1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2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2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3"/>
          <p:cNvSpPr txBox="1">
            <a:spLocks noGrp="1"/>
          </p:cNvSpPr>
          <p:nvPr>
            <p:ph type="body" idx="1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3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2" name="Google Shape;62;p33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3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3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4"/>
          <p:cNvSpPr>
            <a:spLocks noGrp="1"/>
          </p:cNvSpPr>
          <p:nvPr>
            <p:ph type="pic" idx="2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68" name="Google Shape;68;p3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9" name="Google Shape;69;p34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4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4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5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5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5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6"/>
          <p:cNvSpPr txBox="1">
            <a:spLocks noGrp="1"/>
          </p:cNvSpPr>
          <p:nvPr>
            <p:ph type="title"/>
          </p:nvPr>
        </p:nvSpPr>
        <p:spPr>
          <a:xfrm rot="5400000">
            <a:off x="7133433" y="1956595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6"/>
          <p:cNvSpPr txBox="1">
            <a:spLocks noGrp="1"/>
          </p:cNvSpPr>
          <p:nvPr>
            <p:ph type="body" idx="1"/>
          </p:nvPr>
        </p:nvSpPr>
        <p:spPr>
          <a:xfrm rot="5400000">
            <a:off x="1799433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6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6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6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F15CB-AE94-7E99-2A13-7A6022D9D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62AC6B-C98B-9F17-2874-C8FFFC619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CF18C-A87B-07E2-F363-B37D2061A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2885E-3EAA-42F7-2DA8-530E5FB62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6D72B-694C-4B88-F00C-6448EF999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3790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52E3F-C0C4-4F71-F808-DB06525CE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557AA-B26A-028D-FCAE-B370D6E28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D78A5-D456-15F0-F469-5D5EBD135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96B5A-1150-21C9-D557-14FA26EB3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65FF5-3B1C-D98C-37B3-75882C88B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77471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171F3-4CE5-A013-1235-CDD621BB8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E5965-34C6-AFBB-5198-416E75F0D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DFB5F-F628-DEF4-F023-9F95FD965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8270E-06A6-AD70-ECE7-2F4A9B09F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F97B7-E471-C875-445D-A8011242C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5043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533BA-6DAB-48F6-D2E3-F35711593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9536A-5E18-41F5-2DB5-692AC8AE6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5E58DA-819F-30F4-0916-DACB54517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18D1B-ABB2-B5FE-AFD5-D86A02276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2A857-5A71-7DAC-E0E4-1930D4CD9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935F3-0FCD-45A4-AFDD-59DFFF0E1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93993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3E013-1D44-45CC-CBA8-B3CC815E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7BAD8-21AA-D5ED-844E-4F403C3D6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B0639D-3F5B-D8FF-DA05-D5EF2FE77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E2C94D-001C-6F45-D84F-DCE284B88A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EE1570-FAFA-68F2-C735-B73EA93B49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F118B-88AA-1C16-5F38-D6E50C744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EC0AA8-ABB1-886A-49E9-DA1D22725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B1CD31-F812-1337-8DCA-90E56C25E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2680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91A4E-EBF1-521B-6D32-6F07023EB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ADDC10-B3EB-7C8C-C656-4CB0BAE02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012BAF-BA20-223E-E5FD-46E4CA6E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072F2B-88E4-0718-8775-95D4198D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11892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627527-16E8-9B90-7EFC-DE1CF48CB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E3E731-2C49-0B29-5112-0126B6A2E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A588B-D192-0EBE-98BF-03D7CE7AC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3688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3394C-3F7A-FD1F-7563-FC721BA6B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159BD-589E-626E-A92A-C707D1BA1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FE2E4-895A-39B5-BF23-5D6A6E030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519AE-6A03-146E-274F-0DC476D20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4691C-2BDE-3C91-B176-3D9E17D88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D14C0-4411-4E51-B280-22EBA8C99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81641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2EFA1-8FD1-BB66-6EB1-185F405CB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4A71E1-E1F6-3A37-ED44-931221DC92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71E7A0-54EE-D17B-058D-4D9F643AF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E6514-82AB-74BE-212C-65243DD31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3948F-C565-54FF-10F1-793182244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03CFD-5023-2F3D-2E82-F4278DA02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25506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56249-CDE6-8624-1B1C-7CCC93E84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5908CD-E4D7-70F3-B96C-1979095D7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BDB09-FC71-BFFB-3311-308047D74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C7A25-FA72-A435-B091-B078A36D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7B966-3229-B9BF-9C90-360B61BDD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45204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3AD274-4878-5940-3F90-3E1A90109F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31B2B5-209A-458B-D896-ABECC82A8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9F9D5-B0FF-90FB-12E3-89338262C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83A49-C946-5761-8F6F-F4335989C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B771B-BCE3-B031-C133-9BF39E52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462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5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5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5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4FED0-4D83-C886-6A4F-5EAEBC25D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93F8C2-5966-CD83-217C-0F191007E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C0AB1-643C-FB2B-0FB6-A8960764B8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47CB37-1078-4414-9ADD-A1CC037ED0B8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C8EEC-7690-C978-7BEC-AD7D31DB8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5744F-A909-7B28-90E1-BBC46F1002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0496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ajkglMnByFM?start=4&amp;feature=oembed" TargetMode="Externa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uegos artificiales en el cielo&#10;&#10;El contenido generado por IA puede ser incorrecto.">
            <a:extLst>
              <a:ext uri="{FF2B5EF4-FFF2-40B4-BE49-F238E27FC236}">
                <a16:creationId xmlns:a16="http://schemas.microsoft.com/office/drawing/2014/main" id="{3E6C36A3-46D7-59CE-ABBB-FDEBC49E80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23" r="7856"/>
          <a:stretch>
            <a:fillRect/>
          </a:stretch>
        </p:blipFill>
        <p:spPr>
          <a:xfrm>
            <a:off x="4509246" y="0"/>
            <a:ext cx="7682753" cy="6858000"/>
          </a:xfrm>
          <a:prstGeom prst="rect">
            <a:avLst/>
          </a:prstGeom>
        </p:spPr>
      </p:pic>
      <p:sp>
        <p:nvSpPr>
          <p:cNvPr id="89" name="Google Shape;89;p1"/>
          <p:cNvSpPr/>
          <p:nvPr/>
        </p:nvSpPr>
        <p:spPr>
          <a:xfrm>
            <a:off x="0" y="2828856"/>
            <a:ext cx="10431624" cy="203128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47675">
              <a:lnSpc>
                <a:spcPct val="150000"/>
              </a:lnSpc>
            </a:pPr>
            <a:r>
              <a:rPr lang="es-E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Curso Análisis socioespacial para políticas públicas</a:t>
            </a:r>
          </a:p>
          <a:p>
            <a:pPr marL="447675">
              <a:lnSpc>
                <a:spcPct val="150000"/>
              </a:lnSpc>
            </a:pPr>
            <a:r>
              <a:rPr lang="es-ES" sz="2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Modulo 2 – Introducción a R</a:t>
            </a:r>
          </a:p>
          <a:p>
            <a:pPr marL="447675">
              <a:lnSpc>
                <a:spcPct val="150000"/>
              </a:lnSpc>
            </a:pPr>
            <a:r>
              <a:rPr lang="es-ES" sz="2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Clase 01 – 21-09-2026</a:t>
            </a:r>
            <a:endParaRPr lang="es-ES"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8269F79-573E-6A13-E217-FA5A7FCBD76E}"/>
              </a:ext>
            </a:extLst>
          </p:cNvPr>
          <p:cNvSpPr txBox="1"/>
          <p:nvPr/>
        </p:nvSpPr>
        <p:spPr>
          <a:xfrm>
            <a:off x="0" y="5349895"/>
            <a:ext cx="44811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Profesor:</a:t>
            </a:r>
          </a:p>
          <a:p>
            <a:r>
              <a:rPr lang="es-CL" sz="1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Kelly Yubini Y.  kyubini@udec.cl </a:t>
            </a:r>
          </a:p>
          <a:p>
            <a:endParaRPr lang="es-CL" sz="16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sz="1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Universidad de Concepción</a:t>
            </a:r>
          </a:p>
          <a:p>
            <a:r>
              <a:rPr lang="es-ES" sz="1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Facultad de Arquitectura, Urbanismo y Geografía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61CF328-000B-7DF3-8C19-B808E2E194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941" b="6861"/>
          <a:stretch>
            <a:fillRect/>
          </a:stretch>
        </p:blipFill>
        <p:spPr>
          <a:xfrm>
            <a:off x="98555" y="184666"/>
            <a:ext cx="4410691" cy="15455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52FC2FE9-5AF3-3C21-4095-944E2FCDC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Fuegos artificiales en el cielo&#10;&#10;El contenido generado por IA puede ser incorrecto.">
            <a:extLst>
              <a:ext uri="{FF2B5EF4-FFF2-40B4-BE49-F238E27FC236}">
                <a16:creationId xmlns:a16="http://schemas.microsoft.com/office/drawing/2014/main" id="{B15AE45F-9316-2E99-1B1B-1450AB1C1A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44" t="73388" r="5661" b="22121"/>
          <a:stretch>
            <a:fillRect/>
          </a:stretch>
        </p:blipFill>
        <p:spPr>
          <a:xfrm>
            <a:off x="0" y="6376368"/>
            <a:ext cx="12192000" cy="481631"/>
          </a:xfrm>
          <a:prstGeom prst="rect">
            <a:avLst/>
          </a:prstGeom>
        </p:spPr>
      </p:pic>
      <p:sp>
        <p:nvSpPr>
          <p:cNvPr id="103" name="Google Shape;103;p3">
            <a:extLst>
              <a:ext uri="{FF2B5EF4-FFF2-40B4-BE49-F238E27FC236}">
                <a16:creationId xmlns:a16="http://schemas.microsoft.com/office/drawing/2014/main" id="{8D100E9C-5A42-9E07-AFB1-4DF9C56906B0}"/>
              </a:ext>
            </a:extLst>
          </p:cNvPr>
          <p:cNvSpPr/>
          <p:nvPr/>
        </p:nvSpPr>
        <p:spPr>
          <a:xfrm>
            <a:off x="498587" y="389681"/>
            <a:ext cx="9262930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000" tIns="43500" rIns="87000" bIns="43500" anchor="t" anchorCtr="0">
            <a:spAutoFit/>
          </a:bodyPr>
          <a:lstStyle/>
          <a:p>
            <a:r>
              <a:rPr lang="es-CL" sz="32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¿Por qué aprender un lenguaje de programación?</a:t>
            </a:r>
            <a:endParaRPr sz="3200" b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07C4C201-BA0F-F389-B9D2-CE27CA927395}"/>
              </a:ext>
            </a:extLst>
          </p:cNvPr>
          <p:cNvSpPr txBox="1"/>
          <p:nvPr/>
        </p:nvSpPr>
        <p:spPr>
          <a:xfrm>
            <a:off x="1145045" y="2519028"/>
            <a:ext cx="4881301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just"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GRATUITOS </a:t>
            </a:r>
          </a:p>
          <a:p>
            <a:pPr marL="285750" indent="-285750" algn="just"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ABIERTOS</a:t>
            </a:r>
          </a:p>
          <a:p>
            <a:pPr marL="285750" indent="-285750" algn="just"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INDEPENDIENTES</a:t>
            </a:r>
          </a:p>
          <a:p>
            <a:pPr marL="285750" indent="-285750" algn="just"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REPRODUCTIVILIDAD</a:t>
            </a:r>
          </a:p>
          <a:p>
            <a:pPr marL="285750" indent="-285750" algn="just"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AUTOMATIZAR TAREAS REPETITIVAS</a:t>
            </a:r>
          </a:p>
          <a:p>
            <a:pPr marL="285750" indent="-285750" algn="just">
              <a:buClr>
                <a:schemeClr val="dk1"/>
              </a:buClr>
              <a:buSzPts val="2000"/>
              <a:buFont typeface="Arial"/>
              <a:buChar char="•"/>
            </a:pPr>
            <a:endParaRPr lang="es-ES" sz="2400" dirty="0">
              <a:solidFill>
                <a:schemeClr val="dk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alibri"/>
            </a:endParaRPr>
          </a:p>
          <a:p>
            <a:pPr algn="just">
              <a:buClr>
                <a:schemeClr val="dk1"/>
              </a:buClr>
              <a:buSzPts val="2000"/>
            </a:pP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 </a:t>
            </a:r>
          </a:p>
        </p:txBody>
      </p:sp>
      <p:pic>
        <p:nvPicPr>
          <p:cNvPr id="2" name="Imagen 1" descr="Definición de RStudio - Diego Calvo">
            <a:extLst>
              <a:ext uri="{FF2B5EF4-FFF2-40B4-BE49-F238E27FC236}">
                <a16:creationId xmlns:a16="http://schemas.microsoft.com/office/drawing/2014/main" id="{CA145082-F3E2-3A12-FB8B-2614089FE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977" y="1310271"/>
            <a:ext cx="5534284" cy="4607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360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EA2CF0AA-B0D5-580D-F803-1CE954494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lementos multimedia en línea 3" title="algoritmo sandwich">
            <a:hlinkClick r:id="" action="ppaction://media"/>
            <a:extLst>
              <a:ext uri="{FF2B5EF4-FFF2-40B4-BE49-F238E27FC236}">
                <a16:creationId xmlns:a16="http://schemas.microsoft.com/office/drawing/2014/main" id="{1CDEC9BE-A5E0-0FA6-FDD5-697B1DC3E01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083181" y="214849"/>
            <a:ext cx="8571068" cy="642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683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06CDC6EF-FCCD-CEAD-F8AB-35D17A28E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Fuegos artificiales en el cielo&#10;&#10;El contenido generado por IA puede ser incorrecto.">
            <a:extLst>
              <a:ext uri="{FF2B5EF4-FFF2-40B4-BE49-F238E27FC236}">
                <a16:creationId xmlns:a16="http://schemas.microsoft.com/office/drawing/2014/main" id="{1F25BA29-44DA-246C-A01D-C3BF09DA2D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0228" b="1022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669CBC08-5FFC-31D7-86DE-91E338572257}"/>
              </a:ext>
            </a:extLst>
          </p:cNvPr>
          <p:cNvSpPr/>
          <p:nvPr/>
        </p:nvSpPr>
        <p:spPr>
          <a:xfrm>
            <a:off x="-1" y="4334776"/>
            <a:ext cx="7200000" cy="1015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CL" sz="3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es R?</a:t>
            </a:r>
            <a:endParaRPr lang="es-CL" sz="36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7676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4FBEADC7-B3DF-F406-7FDC-DFD4C3CE7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Fuegos artificiales en el cielo&#10;&#10;El contenido generado por IA puede ser incorrecto.">
            <a:extLst>
              <a:ext uri="{FF2B5EF4-FFF2-40B4-BE49-F238E27FC236}">
                <a16:creationId xmlns:a16="http://schemas.microsoft.com/office/drawing/2014/main" id="{5DD08937-4CE2-9527-F57B-DB52094C8C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44" t="73388" r="5661" b="22121"/>
          <a:stretch>
            <a:fillRect/>
          </a:stretch>
        </p:blipFill>
        <p:spPr>
          <a:xfrm>
            <a:off x="0" y="6376368"/>
            <a:ext cx="12192000" cy="481631"/>
          </a:xfrm>
          <a:prstGeom prst="rect">
            <a:avLst/>
          </a:prstGeom>
        </p:spPr>
      </p:pic>
      <p:sp>
        <p:nvSpPr>
          <p:cNvPr id="103" name="Google Shape;103;p3">
            <a:extLst>
              <a:ext uri="{FF2B5EF4-FFF2-40B4-BE49-F238E27FC236}">
                <a16:creationId xmlns:a16="http://schemas.microsoft.com/office/drawing/2014/main" id="{94AE6FDD-1895-19A5-5165-C4781E73FDF4}"/>
              </a:ext>
            </a:extLst>
          </p:cNvPr>
          <p:cNvSpPr/>
          <p:nvPr/>
        </p:nvSpPr>
        <p:spPr>
          <a:xfrm>
            <a:off x="498587" y="389681"/>
            <a:ext cx="9262930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000" tIns="43500" rIns="87000" bIns="43500" anchor="t" anchorCtr="0">
            <a:spAutoFit/>
          </a:bodyPr>
          <a:lstStyle/>
          <a:p>
            <a:r>
              <a:rPr lang="es-CL" sz="32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¿Qué es R?</a:t>
            </a:r>
            <a:endParaRPr sz="3200" b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7E7F71B2-16BA-BF75-8F03-E1DF5712796D}"/>
              </a:ext>
            </a:extLst>
          </p:cNvPr>
          <p:cNvSpPr txBox="1"/>
          <p:nvPr/>
        </p:nvSpPr>
        <p:spPr>
          <a:xfrm>
            <a:off x="498587" y="1762372"/>
            <a:ext cx="4881301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just"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Lenguaje de programación que se deriva de S.</a:t>
            </a:r>
          </a:p>
          <a:p>
            <a:pPr marL="285750" indent="-285750" algn="just"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Orientado a las instrucciones en vez de acciones.</a:t>
            </a:r>
          </a:p>
          <a:p>
            <a:pPr marL="285750" indent="-285750" algn="just"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Énfasis en la aplicación estadística, la generación de informes y gráficos.</a:t>
            </a:r>
          </a:p>
          <a:p>
            <a:pPr marL="285750" indent="-285750" algn="just"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Lenguaje de programación orientado a objetos.</a:t>
            </a:r>
          </a:p>
          <a:p>
            <a:pPr marL="285750" indent="-285750" algn="just"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Funciona a través de paquetes.</a:t>
            </a:r>
          </a:p>
          <a:p>
            <a:pPr marL="285750" indent="-285750" algn="just">
              <a:buClr>
                <a:schemeClr val="dk1"/>
              </a:buClr>
              <a:buSzPts val="2000"/>
              <a:buFont typeface="Arial"/>
              <a:buChar char="•"/>
            </a:pPr>
            <a:endParaRPr lang="es-ES" sz="2400" dirty="0">
              <a:solidFill>
                <a:schemeClr val="dk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alibri"/>
            </a:endParaRPr>
          </a:p>
          <a:p>
            <a:pPr algn="just">
              <a:buClr>
                <a:schemeClr val="dk1"/>
              </a:buClr>
              <a:buSzPts val="2000"/>
            </a:pP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 </a:t>
            </a:r>
          </a:p>
        </p:txBody>
      </p:sp>
      <p:pic>
        <p:nvPicPr>
          <p:cNvPr id="2" name="Imagen 1" descr="Definición de RStudio - Diego Calvo">
            <a:extLst>
              <a:ext uri="{FF2B5EF4-FFF2-40B4-BE49-F238E27FC236}">
                <a16:creationId xmlns:a16="http://schemas.microsoft.com/office/drawing/2014/main" id="{5249A4CA-5D18-E261-586A-29513675D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039" y="1125478"/>
            <a:ext cx="5534284" cy="4607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448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FC62F687-8A5C-3F17-2E68-11BF75E09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Fuegos artificiales en el cielo&#10;&#10;El contenido generado por IA puede ser incorrecto.">
            <a:extLst>
              <a:ext uri="{FF2B5EF4-FFF2-40B4-BE49-F238E27FC236}">
                <a16:creationId xmlns:a16="http://schemas.microsoft.com/office/drawing/2014/main" id="{F4E8632C-6A4B-F948-6A8C-4AA1F55BDE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44" t="73388" r="5661" b="22121"/>
          <a:stretch>
            <a:fillRect/>
          </a:stretch>
        </p:blipFill>
        <p:spPr>
          <a:xfrm>
            <a:off x="0" y="6376368"/>
            <a:ext cx="12192000" cy="481631"/>
          </a:xfrm>
          <a:prstGeom prst="rect">
            <a:avLst/>
          </a:prstGeom>
        </p:spPr>
      </p:pic>
      <p:sp>
        <p:nvSpPr>
          <p:cNvPr id="103" name="Google Shape;103;p3">
            <a:extLst>
              <a:ext uri="{FF2B5EF4-FFF2-40B4-BE49-F238E27FC236}">
                <a16:creationId xmlns:a16="http://schemas.microsoft.com/office/drawing/2014/main" id="{D3D50A0F-BCD9-E691-AE5E-C27ABDC47234}"/>
              </a:ext>
            </a:extLst>
          </p:cNvPr>
          <p:cNvSpPr/>
          <p:nvPr/>
        </p:nvSpPr>
        <p:spPr>
          <a:xfrm>
            <a:off x="498587" y="389681"/>
            <a:ext cx="9262930" cy="1072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000" tIns="43500" rIns="87000" bIns="43500" anchor="t" anchorCtr="0">
            <a:spAutoFit/>
          </a:bodyPr>
          <a:lstStyle/>
          <a:p>
            <a:r>
              <a:rPr lang="es-CL" sz="32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¿Qué Instalamos cuando instalamos R en nuestro computador?</a:t>
            </a:r>
            <a:endParaRPr sz="3200" b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468FA196-2A3A-15AC-AE65-7AA4CFD4F389}"/>
              </a:ext>
            </a:extLst>
          </p:cNvPr>
          <p:cNvSpPr txBox="1"/>
          <p:nvPr/>
        </p:nvSpPr>
        <p:spPr>
          <a:xfrm>
            <a:off x="498587" y="1762372"/>
            <a:ext cx="5474701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just"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Cuando instalamos R base estamos instalando, entre otras cosas:</a:t>
            </a:r>
          </a:p>
          <a:p>
            <a:pPr marL="285750" indent="-285750" algn="just"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El intérprete de R, que lee y ejecuta nuestro código; </a:t>
            </a:r>
          </a:p>
          <a:p>
            <a:pPr marL="285750" indent="-285750" algn="just"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Un conjunto de funciones básicas, como mean(), sum(), lm(), </a:t>
            </a:r>
            <a:r>
              <a:rPr lang="es-ES" sz="2400" dirty="0" err="1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plot</a:t>
            </a: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(), etc.; </a:t>
            </a:r>
          </a:p>
          <a:p>
            <a:pPr marL="285750" indent="-285750" algn="just"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Los paquetes que vienen con la instalación estándar, como </a:t>
            </a:r>
            <a:r>
              <a:rPr lang="es-ES" sz="2400" dirty="0" err="1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stats</a:t>
            </a: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, </a:t>
            </a:r>
            <a:r>
              <a:rPr lang="es-ES" sz="2400" dirty="0" err="1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graphics</a:t>
            </a: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, </a:t>
            </a:r>
            <a:r>
              <a:rPr lang="es-ES" sz="2400" dirty="0" err="1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utils</a:t>
            </a: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 y </a:t>
            </a:r>
            <a:r>
              <a:rPr lang="es-ES" sz="2400" dirty="0" err="1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datasets</a:t>
            </a: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; </a:t>
            </a:r>
          </a:p>
          <a:p>
            <a:pPr marL="285750" indent="-285750" algn="just"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Una consola desde la cual podemos comunicarnos directamente con R.</a:t>
            </a:r>
          </a:p>
          <a:p>
            <a:pPr marL="285750" indent="-285750" algn="just">
              <a:buClr>
                <a:schemeClr val="dk1"/>
              </a:buClr>
              <a:buSzPts val="2000"/>
              <a:buFont typeface="Arial"/>
              <a:buChar char="•"/>
            </a:pPr>
            <a:endParaRPr lang="es-ES" sz="2400" dirty="0">
              <a:solidFill>
                <a:schemeClr val="dk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alibri"/>
            </a:endParaRPr>
          </a:p>
          <a:p>
            <a:pPr marL="285750" indent="-285750" algn="just">
              <a:buClr>
                <a:schemeClr val="dk1"/>
              </a:buClr>
              <a:buSzPts val="2000"/>
              <a:buFont typeface="Arial"/>
              <a:buChar char="•"/>
            </a:pPr>
            <a:endParaRPr lang="es-ES" sz="2400" dirty="0">
              <a:solidFill>
                <a:schemeClr val="dk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alibri"/>
            </a:endParaRPr>
          </a:p>
          <a:p>
            <a:pPr algn="just">
              <a:buClr>
                <a:schemeClr val="dk1"/>
              </a:buClr>
              <a:buSzPts val="2000"/>
            </a:pP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D7C38E-F0CA-CF74-DDB0-7D709682B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473" y="1049427"/>
            <a:ext cx="4752152" cy="280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526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5AB8178D-B15A-1428-8965-EA6A8E3EC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Fuegos artificiales en el cielo&#10;&#10;El contenido generado por IA puede ser incorrecto.">
            <a:extLst>
              <a:ext uri="{FF2B5EF4-FFF2-40B4-BE49-F238E27FC236}">
                <a16:creationId xmlns:a16="http://schemas.microsoft.com/office/drawing/2014/main" id="{AD171B22-A189-32FF-AED2-DDD952789F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44" t="73388" r="5661" b="22121"/>
          <a:stretch>
            <a:fillRect/>
          </a:stretch>
        </p:blipFill>
        <p:spPr>
          <a:xfrm>
            <a:off x="0" y="6376368"/>
            <a:ext cx="12192000" cy="481631"/>
          </a:xfrm>
          <a:prstGeom prst="rect">
            <a:avLst/>
          </a:prstGeom>
        </p:spPr>
      </p:pic>
      <p:sp>
        <p:nvSpPr>
          <p:cNvPr id="103" name="Google Shape;103;p3">
            <a:extLst>
              <a:ext uri="{FF2B5EF4-FFF2-40B4-BE49-F238E27FC236}">
                <a16:creationId xmlns:a16="http://schemas.microsoft.com/office/drawing/2014/main" id="{A24D2ADD-FB14-1CB3-BDF1-03CD6FBDFDA3}"/>
              </a:ext>
            </a:extLst>
          </p:cNvPr>
          <p:cNvSpPr/>
          <p:nvPr/>
        </p:nvSpPr>
        <p:spPr>
          <a:xfrm>
            <a:off x="498587" y="389681"/>
            <a:ext cx="9262930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000" tIns="43500" rIns="87000" bIns="43500" anchor="t" anchorCtr="0">
            <a:spAutoFit/>
          </a:bodyPr>
          <a:lstStyle/>
          <a:p>
            <a:r>
              <a:rPr lang="es-CL" sz="3200" b="1" dirty="0" err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Rstudio</a:t>
            </a:r>
            <a:endParaRPr sz="3200" b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697E8A6A-1419-5BBE-22D3-B3E3AFE90383}"/>
              </a:ext>
            </a:extLst>
          </p:cNvPr>
          <p:cNvSpPr txBox="1"/>
          <p:nvPr/>
        </p:nvSpPr>
        <p:spPr>
          <a:xfrm>
            <a:off x="498587" y="1762372"/>
            <a:ext cx="5474701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just"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Es un entorno de desarrollo integrado es decir una IDE.</a:t>
            </a:r>
          </a:p>
          <a:p>
            <a:pPr marL="285750" indent="-285750" algn="just"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Lanzado en el 2011.</a:t>
            </a:r>
          </a:p>
          <a:p>
            <a:pPr marL="285750" indent="-285750" algn="just"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Tiene una interfaz con botones, y nos asiste en algunas cosas, mejorando la experiencia. </a:t>
            </a:r>
          </a:p>
          <a:p>
            <a:pPr marL="285750" indent="-285750" algn="just"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Desarrollado por </a:t>
            </a:r>
            <a:r>
              <a:rPr lang="es-ES" sz="2400" dirty="0" err="1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posit</a:t>
            </a: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 que es una empresa sin fines de lucro. Es un software de uso simple. </a:t>
            </a:r>
          </a:p>
          <a:p>
            <a:pPr marL="285750" indent="-285750" algn="just">
              <a:buClr>
                <a:schemeClr val="dk1"/>
              </a:buClr>
              <a:buSzPts val="2000"/>
              <a:buFont typeface="Arial"/>
              <a:buChar char="•"/>
            </a:pPr>
            <a:endParaRPr lang="es-ES" sz="2400" dirty="0">
              <a:solidFill>
                <a:schemeClr val="dk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alibri"/>
            </a:endParaRPr>
          </a:p>
          <a:p>
            <a:pPr algn="just">
              <a:buClr>
                <a:schemeClr val="dk1"/>
              </a:buClr>
              <a:buSzPts val="2000"/>
            </a:pP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 </a:t>
            </a:r>
          </a:p>
        </p:txBody>
      </p:sp>
      <p:pic>
        <p:nvPicPr>
          <p:cNvPr id="6" name="Imagen 5" descr="1- Navigating the RStudio Interface | R Studio - Introduction to R and summary statistics">
            <a:extLst>
              <a:ext uri="{FF2B5EF4-FFF2-40B4-BE49-F238E27FC236}">
                <a16:creationId xmlns:a16="http://schemas.microsoft.com/office/drawing/2014/main" id="{E10F3AEA-9360-3D57-6121-64E82DED8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445" y="1022478"/>
            <a:ext cx="5345281" cy="442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275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873AC4-01C6-414A-C194-24098046E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944"/>
            <a:ext cx="12192000" cy="65321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A5610A6-CE43-9AF9-DBC1-046316A8C7E1}"/>
              </a:ext>
            </a:extLst>
          </p:cNvPr>
          <p:cNvSpPr/>
          <p:nvPr/>
        </p:nvSpPr>
        <p:spPr>
          <a:xfrm>
            <a:off x="64008" y="630936"/>
            <a:ext cx="7607808" cy="6064119"/>
          </a:xfrm>
          <a:custGeom>
            <a:avLst/>
            <a:gdLst>
              <a:gd name="csX0" fmla="*/ 0 w 7607808"/>
              <a:gd name="csY0" fmla="*/ 0 h 6064119"/>
              <a:gd name="csX1" fmla="*/ 585216 w 7607808"/>
              <a:gd name="csY1" fmla="*/ 0 h 6064119"/>
              <a:gd name="csX2" fmla="*/ 1246510 w 7607808"/>
              <a:gd name="csY2" fmla="*/ 0 h 6064119"/>
              <a:gd name="csX3" fmla="*/ 1831726 w 7607808"/>
              <a:gd name="csY3" fmla="*/ 0 h 6064119"/>
              <a:gd name="csX4" fmla="*/ 2416942 w 7607808"/>
              <a:gd name="csY4" fmla="*/ 0 h 6064119"/>
              <a:gd name="csX5" fmla="*/ 3078236 w 7607808"/>
              <a:gd name="csY5" fmla="*/ 0 h 6064119"/>
              <a:gd name="csX6" fmla="*/ 3587374 w 7607808"/>
              <a:gd name="csY6" fmla="*/ 0 h 6064119"/>
              <a:gd name="csX7" fmla="*/ 3944356 w 7607808"/>
              <a:gd name="csY7" fmla="*/ 0 h 6064119"/>
              <a:gd name="csX8" fmla="*/ 4681728 w 7607808"/>
              <a:gd name="csY8" fmla="*/ 0 h 6064119"/>
              <a:gd name="csX9" fmla="*/ 5114788 w 7607808"/>
              <a:gd name="csY9" fmla="*/ 0 h 6064119"/>
              <a:gd name="csX10" fmla="*/ 5700004 w 7607808"/>
              <a:gd name="csY10" fmla="*/ 0 h 6064119"/>
              <a:gd name="csX11" fmla="*/ 6361298 w 7607808"/>
              <a:gd name="csY11" fmla="*/ 0 h 6064119"/>
              <a:gd name="csX12" fmla="*/ 6794358 w 7607808"/>
              <a:gd name="csY12" fmla="*/ 0 h 6064119"/>
              <a:gd name="csX13" fmla="*/ 7607808 w 7607808"/>
              <a:gd name="csY13" fmla="*/ 0 h 6064119"/>
              <a:gd name="csX14" fmla="*/ 7607808 w 7607808"/>
              <a:gd name="csY14" fmla="*/ 672566 h 6064119"/>
              <a:gd name="csX15" fmla="*/ 7607808 w 7607808"/>
              <a:gd name="csY15" fmla="*/ 1041926 h 6064119"/>
              <a:gd name="csX16" fmla="*/ 7607808 w 7607808"/>
              <a:gd name="csY16" fmla="*/ 1653851 h 6064119"/>
              <a:gd name="csX17" fmla="*/ 7607808 w 7607808"/>
              <a:gd name="csY17" fmla="*/ 2265775 h 6064119"/>
              <a:gd name="csX18" fmla="*/ 7607808 w 7607808"/>
              <a:gd name="csY18" fmla="*/ 2938341 h 6064119"/>
              <a:gd name="csX19" fmla="*/ 7607808 w 7607808"/>
              <a:gd name="csY19" fmla="*/ 3610907 h 6064119"/>
              <a:gd name="csX20" fmla="*/ 7607808 w 7607808"/>
              <a:gd name="csY20" fmla="*/ 4283473 h 6064119"/>
              <a:gd name="csX21" fmla="*/ 7607808 w 7607808"/>
              <a:gd name="csY21" fmla="*/ 4652833 h 6064119"/>
              <a:gd name="csX22" fmla="*/ 7607808 w 7607808"/>
              <a:gd name="csY22" fmla="*/ 5204117 h 6064119"/>
              <a:gd name="csX23" fmla="*/ 7607808 w 7607808"/>
              <a:gd name="csY23" fmla="*/ 6064119 h 6064119"/>
              <a:gd name="csX24" fmla="*/ 7022592 w 7607808"/>
              <a:gd name="csY24" fmla="*/ 6064119 h 6064119"/>
              <a:gd name="csX25" fmla="*/ 6589532 w 7607808"/>
              <a:gd name="csY25" fmla="*/ 6064119 h 6064119"/>
              <a:gd name="csX26" fmla="*/ 5852160 w 7607808"/>
              <a:gd name="csY26" fmla="*/ 6064119 h 6064119"/>
              <a:gd name="csX27" fmla="*/ 5266944 w 7607808"/>
              <a:gd name="csY27" fmla="*/ 6064119 h 6064119"/>
              <a:gd name="csX28" fmla="*/ 4681728 w 7607808"/>
              <a:gd name="csY28" fmla="*/ 6064119 h 6064119"/>
              <a:gd name="csX29" fmla="*/ 3944356 w 7607808"/>
              <a:gd name="csY29" fmla="*/ 6064119 h 6064119"/>
              <a:gd name="csX30" fmla="*/ 3283062 w 7607808"/>
              <a:gd name="csY30" fmla="*/ 6064119 h 6064119"/>
              <a:gd name="csX31" fmla="*/ 2545690 w 7607808"/>
              <a:gd name="csY31" fmla="*/ 6064119 h 6064119"/>
              <a:gd name="csX32" fmla="*/ 2036552 w 7607808"/>
              <a:gd name="csY32" fmla="*/ 6064119 h 6064119"/>
              <a:gd name="csX33" fmla="*/ 1527414 w 7607808"/>
              <a:gd name="csY33" fmla="*/ 6064119 h 6064119"/>
              <a:gd name="csX34" fmla="*/ 790042 w 7607808"/>
              <a:gd name="csY34" fmla="*/ 6064119 h 6064119"/>
              <a:gd name="csX35" fmla="*/ 0 w 7607808"/>
              <a:gd name="csY35" fmla="*/ 6064119 h 6064119"/>
              <a:gd name="csX36" fmla="*/ 0 w 7607808"/>
              <a:gd name="csY36" fmla="*/ 5634118 h 6064119"/>
              <a:gd name="csX37" fmla="*/ 0 w 7607808"/>
              <a:gd name="csY37" fmla="*/ 4961552 h 6064119"/>
              <a:gd name="csX38" fmla="*/ 0 w 7607808"/>
              <a:gd name="csY38" fmla="*/ 4288986 h 6064119"/>
              <a:gd name="csX39" fmla="*/ 0 w 7607808"/>
              <a:gd name="csY39" fmla="*/ 3798344 h 6064119"/>
              <a:gd name="csX40" fmla="*/ 0 w 7607808"/>
              <a:gd name="csY40" fmla="*/ 3125778 h 6064119"/>
              <a:gd name="csX41" fmla="*/ 0 w 7607808"/>
              <a:gd name="csY41" fmla="*/ 2635135 h 6064119"/>
              <a:gd name="csX42" fmla="*/ 0 w 7607808"/>
              <a:gd name="csY42" fmla="*/ 2083852 h 6064119"/>
              <a:gd name="csX43" fmla="*/ 0 w 7607808"/>
              <a:gd name="csY43" fmla="*/ 1593209 h 6064119"/>
              <a:gd name="csX44" fmla="*/ 0 w 7607808"/>
              <a:gd name="csY44" fmla="*/ 981285 h 6064119"/>
              <a:gd name="csX45" fmla="*/ 0 w 7607808"/>
              <a:gd name="csY45" fmla="*/ 0 h 60641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</a:cxnLst>
            <a:rect l="l" t="t" r="r" b="b"/>
            <a:pathLst>
              <a:path w="7607808" h="6064119" extrusionOk="0">
                <a:moveTo>
                  <a:pt x="0" y="0"/>
                </a:moveTo>
                <a:cubicBezTo>
                  <a:pt x="223017" y="-7206"/>
                  <a:pt x="343820" y="60447"/>
                  <a:pt x="585216" y="0"/>
                </a:cubicBezTo>
                <a:cubicBezTo>
                  <a:pt x="826612" y="-60447"/>
                  <a:pt x="991379" y="71524"/>
                  <a:pt x="1246510" y="0"/>
                </a:cubicBezTo>
                <a:cubicBezTo>
                  <a:pt x="1501641" y="-71524"/>
                  <a:pt x="1684743" y="37105"/>
                  <a:pt x="1831726" y="0"/>
                </a:cubicBezTo>
                <a:cubicBezTo>
                  <a:pt x="1978709" y="-37105"/>
                  <a:pt x="2240443" y="46961"/>
                  <a:pt x="2416942" y="0"/>
                </a:cubicBezTo>
                <a:cubicBezTo>
                  <a:pt x="2593441" y="-46961"/>
                  <a:pt x="2925388" y="61541"/>
                  <a:pt x="3078236" y="0"/>
                </a:cubicBezTo>
                <a:cubicBezTo>
                  <a:pt x="3231084" y="-61541"/>
                  <a:pt x="3363000" y="15929"/>
                  <a:pt x="3587374" y="0"/>
                </a:cubicBezTo>
                <a:cubicBezTo>
                  <a:pt x="3811748" y="-15929"/>
                  <a:pt x="3859573" y="38976"/>
                  <a:pt x="3944356" y="0"/>
                </a:cubicBezTo>
                <a:cubicBezTo>
                  <a:pt x="4029139" y="-38976"/>
                  <a:pt x="4417270" y="24246"/>
                  <a:pt x="4681728" y="0"/>
                </a:cubicBezTo>
                <a:cubicBezTo>
                  <a:pt x="4946186" y="-24246"/>
                  <a:pt x="4974480" y="51328"/>
                  <a:pt x="5114788" y="0"/>
                </a:cubicBezTo>
                <a:cubicBezTo>
                  <a:pt x="5255096" y="-51328"/>
                  <a:pt x="5455897" y="50907"/>
                  <a:pt x="5700004" y="0"/>
                </a:cubicBezTo>
                <a:cubicBezTo>
                  <a:pt x="5944111" y="-50907"/>
                  <a:pt x="6135515" y="36882"/>
                  <a:pt x="6361298" y="0"/>
                </a:cubicBezTo>
                <a:cubicBezTo>
                  <a:pt x="6587081" y="-36882"/>
                  <a:pt x="6694820" y="48247"/>
                  <a:pt x="6794358" y="0"/>
                </a:cubicBezTo>
                <a:cubicBezTo>
                  <a:pt x="6893896" y="-48247"/>
                  <a:pt x="7341739" y="76719"/>
                  <a:pt x="7607808" y="0"/>
                </a:cubicBezTo>
                <a:cubicBezTo>
                  <a:pt x="7668697" y="320537"/>
                  <a:pt x="7555989" y="466559"/>
                  <a:pt x="7607808" y="672566"/>
                </a:cubicBezTo>
                <a:cubicBezTo>
                  <a:pt x="7659627" y="878573"/>
                  <a:pt x="7599577" y="952961"/>
                  <a:pt x="7607808" y="1041926"/>
                </a:cubicBezTo>
                <a:cubicBezTo>
                  <a:pt x="7616039" y="1130891"/>
                  <a:pt x="7537333" y="1402629"/>
                  <a:pt x="7607808" y="1653851"/>
                </a:cubicBezTo>
                <a:cubicBezTo>
                  <a:pt x="7678283" y="1905074"/>
                  <a:pt x="7606929" y="2022333"/>
                  <a:pt x="7607808" y="2265775"/>
                </a:cubicBezTo>
                <a:cubicBezTo>
                  <a:pt x="7608687" y="2509217"/>
                  <a:pt x="7529775" y="2652995"/>
                  <a:pt x="7607808" y="2938341"/>
                </a:cubicBezTo>
                <a:cubicBezTo>
                  <a:pt x="7685841" y="3223687"/>
                  <a:pt x="7585483" y="3313548"/>
                  <a:pt x="7607808" y="3610907"/>
                </a:cubicBezTo>
                <a:cubicBezTo>
                  <a:pt x="7630133" y="3908266"/>
                  <a:pt x="7595013" y="4002728"/>
                  <a:pt x="7607808" y="4283473"/>
                </a:cubicBezTo>
                <a:cubicBezTo>
                  <a:pt x="7620603" y="4564218"/>
                  <a:pt x="7570323" y="4568400"/>
                  <a:pt x="7607808" y="4652833"/>
                </a:cubicBezTo>
                <a:cubicBezTo>
                  <a:pt x="7645293" y="4737266"/>
                  <a:pt x="7553111" y="5066062"/>
                  <a:pt x="7607808" y="5204117"/>
                </a:cubicBezTo>
                <a:cubicBezTo>
                  <a:pt x="7662505" y="5342172"/>
                  <a:pt x="7561576" y="5751471"/>
                  <a:pt x="7607808" y="6064119"/>
                </a:cubicBezTo>
                <a:cubicBezTo>
                  <a:pt x="7383990" y="6070559"/>
                  <a:pt x="7313171" y="6019835"/>
                  <a:pt x="7022592" y="6064119"/>
                </a:cubicBezTo>
                <a:cubicBezTo>
                  <a:pt x="6732013" y="6108403"/>
                  <a:pt x="6728871" y="6021179"/>
                  <a:pt x="6589532" y="6064119"/>
                </a:cubicBezTo>
                <a:cubicBezTo>
                  <a:pt x="6450193" y="6107059"/>
                  <a:pt x="6116306" y="5978139"/>
                  <a:pt x="5852160" y="6064119"/>
                </a:cubicBezTo>
                <a:cubicBezTo>
                  <a:pt x="5588014" y="6150099"/>
                  <a:pt x="5468019" y="6050262"/>
                  <a:pt x="5266944" y="6064119"/>
                </a:cubicBezTo>
                <a:cubicBezTo>
                  <a:pt x="5065869" y="6077976"/>
                  <a:pt x="4904238" y="5994492"/>
                  <a:pt x="4681728" y="6064119"/>
                </a:cubicBezTo>
                <a:cubicBezTo>
                  <a:pt x="4459218" y="6133746"/>
                  <a:pt x="4149071" y="6057238"/>
                  <a:pt x="3944356" y="6064119"/>
                </a:cubicBezTo>
                <a:cubicBezTo>
                  <a:pt x="3739641" y="6071000"/>
                  <a:pt x="3572061" y="6015262"/>
                  <a:pt x="3283062" y="6064119"/>
                </a:cubicBezTo>
                <a:cubicBezTo>
                  <a:pt x="2994063" y="6112976"/>
                  <a:pt x="2803598" y="6035814"/>
                  <a:pt x="2545690" y="6064119"/>
                </a:cubicBezTo>
                <a:cubicBezTo>
                  <a:pt x="2287782" y="6092424"/>
                  <a:pt x="2291025" y="6060570"/>
                  <a:pt x="2036552" y="6064119"/>
                </a:cubicBezTo>
                <a:cubicBezTo>
                  <a:pt x="1782079" y="6067668"/>
                  <a:pt x="1650347" y="6032532"/>
                  <a:pt x="1527414" y="6064119"/>
                </a:cubicBezTo>
                <a:cubicBezTo>
                  <a:pt x="1404481" y="6095706"/>
                  <a:pt x="1093911" y="5991745"/>
                  <a:pt x="790042" y="6064119"/>
                </a:cubicBezTo>
                <a:cubicBezTo>
                  <a:pt x="486173" y="6136493"/>
                  <a:pt x="386530" y="6054904"/>
                  <a:pt x="0" y="6064119"/>
                </a:cubicBezTo>
                <a:cubicBezTo>
                  <a:pt x="-29773" y="5960079"/>
                  <a:pt x="23899" y="5845858"/>
                  <a:pt x="0" y="5634118"/>
                </a:cubicBezTo>
                <a:cubicBezTo>
                  <a:pt x="-23899" y="5422378"/>
                  <a:pt x="63894" y="5258553"/>
                  <a:pt x="0" y="4961552"/>
                </a:cubicBezTo>
                <a:cubicBezTo>
                  <a:pt x="-63894" y="4664551"/>
                  <a:pt x="3934" y="4556144"/>
                  <a:pt x="0" y="4288986"/>
                </a:cubicBezTo>
                <a:cubicBezTo>
                  <a:pt x="-3934" y="4021828"/>
                  <a:pt x="40819" y="3979863"/>
                  <a:pt x="0" y="3798344"/>
                </a:cubicBezTo>
                <a:cubicBezTo>
                  <a:pt x="-40819" y="3616825"/>
                  <a:pt x="61523" y="3423739"/>
                  <a:pt x="0" y="3125778"/>
                </a:cubicBezTo>
                <a:cubicBezTo>
                  <a:pt x="-61523" y="2827817"/>
                  <a:pt x="22899" y="2825130"/>
                  <a:pt x="0" y="2635135"/>
                </a:cubicBezTo>
                <a:cubicBezTo>
                  <a:pt x="-22899" y="2445140"/>
                  <a:pt x="33766" y="2331165"/>
                  <a:pt x="0" y="2083852"/>
                </a:cubicBezTo>
                <a:cubicBezTo>
                  <a:pt x="-33766" y="1836539"/>
                  <a:pt x="14845" y="1787345"/>
                  <a:pt x="0" y="1593209"/>
                </a:cubicBezTo>
                <a:cubicBezTo>
                  <a:pt x="-14845" y="1399073"/>
                  <a:pt x="8685" y="1108308"/>
                  <a:pt x="0" y="981285"/>
                </a:cubicBezTo>
                <a:cubicBezTo>
                  <a:pt x="-8685" y="854262"/>
                  <a:pt x="15891" y="206006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295995481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C3EAF8-CFEE-9742-8345-2EA191BF3F99}"/>
              </a:ext>
            </a:extLst>
          </p:cNvPr>
          <p:cNvSpPr txBox="1"/>
          <p:nvPr/>
        </p:nvSpPr>
        <p:spPr>
          <a:xfrm>
            <a:off x="4178808" y="5394960"/>
            <a:ext cx="2980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Consola en la que se puede introducir código y también devuelve los resultados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8836E1-09EC-AF56-3466-BB84DF89334F}"/>
              </a:ext>
            </a:extLst>
          </p:cNvPr>
          <p:cNvSpPr/>
          <p:nvPr/>
        </p:nvSpPr>
        <p:spPr>
          <a:xfrm>
            <a:off x="7735824" y="630936"/>
            <a:ext cx="4456176" cy="3438144"/>
          </a:xfrm>
          <a:custGeom>
            <a:avLst/>
            <a:gdLst>
              <a:gd name="csX0" fmla="*/ 0 w 4456176"/>
              <a:gd name="csY0" fmla="*/ 0 h 3438144"/>
              <a:gd name="csX1" fmla="*/ 557022 w 4456176"/>
              <a:gd name="csY1" fmla="*/ 0 h 3438144"/>
              <a:gd name="csX2" fmla="*/ 1158606 w 4456176"/>
              <a:gd name="csY2" fmla="*/ 0 h 3438144"/>
              <a:gd name="csX3" fmla="*/ 1715628 w 4456176"/>
              <a:gd name="csY3" fmla="*/ 0 h 3438144"/>
              <a:gd name="csX4" fmla="*/ 2272650 w 4456176"/>
              <a:gd name="csY4" fmla="*/ 0 h 3438144"/>
              <a:gd name="csX5" fmla="*/ 2874234 w 4456176"/>
              <a:gd name="csY5" fmla="*/ 0 h 3438144"/>
              <a:gd name="csX6" fmla="*/ 3386694 w 4456176"/>
              <a:gd name="csY6" fmla="*/ 0 h 3438144"/>
              <a:gd name="csX7" fmla="*/ 3810030 w 4456176"/>
              <a:gd name="csY7" fmla="*/ 0 h 3438144"/>
              <a:gd name="csX8" fmla="*/ 4456176 w 4456176"/>
              <a:gd name="csY8" fmla="*/ 0 h 3438144"/>
              <a:gd name="csX9" fmla="*/ 4456176 w 4456176"/>
              <a:gd name="csY9" fmla="*/ 504261 h 3438144"/>
              <a:gd name="csX10" fmla="*/ 4456176 w 4456176"/>
              <a:gd name="csY10" fmla="*/ 1008522 h 3438144"/>
              <a:gd name="csX11" fmla="*/ 4456176 w 4456176"/>
              <a:gd name="csY11" fmla="*/ 1581546 h 3438144"/>
              <a:gd name="csX12" fmla="*/ 4456176 w 4456176"/>
              <a:gd name="csY12" fmla="*/ 2120189 h 3438144"/>
              <a:gd name="csX13" fmla="*/ 4456176 w 4456176"/>
              <a:gd name="csY13" fmla="*/ 2693213 h 3438144"/>
              <a:gd name="csX14" fmla="*/ 4456176 w 4456176"/>
              <a:gd name="csY14" fmla="*/ 3438144 h 3438144"/>
              <a:gd name="csX15" fmla="*/ 4032839 w 4456176"/>
              <a:gd name="csY15" fmla="*/ 3438144 h 3438144"/>
              <a:gd name="csX16" fmla="*/ 3386694 w 4456176"/>
              <a:gd name="csY16" fmla="*/ 3438144 h 3438144"/>
              <a:gd name="csX17" fmla="*/ 2785110 w 4456176"/>
              <a:gd name="csY17" fmla="*/ 3438144 h 3438144"/>
              <a:gd name="csX18" fmla="*/ 2272650 w 4456176"/>
              <a:gd name="csY18" fmla="*/ 3438144 h 3438144"/>
              <a:gd name="csX19" fmla="*/ 1715628 w 4456176"/>
              <a:gd name="csY19" fmla="*/ 3438144 h 3438144"/>
              <a:gd name="csX20" fmla="*/ 1069482 w 4456176"/>
              <a:gd name="csY20" fmla="*/ 3438144 h 3438144"/>
              <a:gd name="csX21" fmla="*/ 0 w 4456176"/>
              <a:gd name="csY21" fmla="*/ 3438144 h 3438144"/>
              <a:gd name="csX22" fmla="*/ 0 w 4456176"/>
              <a:gd name="csY22" fmla="*/ 2830739 h 3438144"/>
              <a:gd name="csX23" fmla="*/ 0 w 4456176"/>
              <a:gd name="csY23" fmla="*/ 2360859 h 3438144"/>
              <a:gd name="csX24" fmla="*/ 0 w 4456176"/>
              <a:gd name="csY24" fmla="*/ 1787835 h 3438144"/>
              <a:gd name="csX25" fmla="*/ 0 w 4456176"/>
              <a:gd name="csY25" fmla="*/ 1214811 h 3438144"/>
              <a:gd name="csX26" fmla="*/ 0 w 4456176"/>
              <a:gd name="csY26" fmla="*/ 710550 h 3438144"/>
              <a:gd name="csX27" fmla="*/ 0 w 4456176"/>
              <a:gd name="csY27" fmla="*/ 0 h 34381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4456176" h="3438144" extrusionOk="0">
                <a:moveTo>
                  <a:pt x="0" y="0"/>
                </a:moveTo>
                <a:cubicBezTo>
                  <a:pt x="273773" y="-55943"/>
                  <a:pt x="303461" y="828"/>
                  <a:pt x="557022" y="0"/>
                </a:cubicBezTo>
                <a:cubicBezTo>
                  <a:pt x="810583" y="-828"/>
                  <a:pt x="947319" y="5713"/>
                  <a:pt x="1158606" y="0"/>
                </a:cubicBezTo>
                <a:cubicBezTo>
                  <a:pt x="1369893" y="-5713"/>
                  <a:pt x="1495976" y="15251"/>
                  <a:pt x="1715628" y="0"/>
                </a:cubicBezTo>
                <a:cubicBezTo>
                  <a:pt x="1935280" y="-15251"/>
                  <a:pt x="2009078" y="40834"/>
                  <a:pt x="2272650" y="0"/>
                </a:cubicBezTo>
                <a:cubicBezTo>
                  <a:pt x="2536222" y="-40834"/>
                  <a:pt x="2584683" y="30852"/>
                  <a:pt x="2874234" y="0"/>
                </a:cubicBezTo>
                <a:cubicBezTo>
                  <a:pt x="3163785" y="-30852"/>
                  <a:pt x="3133406" y="9206"/>
                  <a:pt x="3386694" y="0"/>
                </a:cubicBezTo>
                <a:cubicBezTo>
                  <a:pt x="3639982" y="-9206"/>
                  <a:pt x="3706615" y="17359"/>
                  <a:pt x="3810030" y="0"/>
                </a:cubicBezTo>
                <a:cubicBezTo>
                  <a:pt x="3913445" y="-17359"/>
                  <a:pt x="4291020" y="13519"/>
                  <a:pt x="4456176" y="0"/>
                </a:cubicBezTo>
                <a:cubicBezTo>
                  <a:pt x="4485145" y="236491"/>
                  <a:pt x="4405491" y="378940"/>
                  <a:pt x="4456176" y="504261"/>
                </a:cubicBezTo>
                <a:cubicBezTo>
                  <a:pt x="4506861" y="629582"/>
                  <a:pt x="4423930" y="770059"/>
                  <a:pt x="4456176" y="1008522"/>
                </a:cubicBezTo>
                <a:cubicBezTo>
                  <a:pt x="4488422" y="1246985"/>
                  <a:pt x="4389313" y="1355141"/>
                  <a:pt x="4456176" y="1581546"/>
                </a:cubicBezTo>
                <a:cubicBezTo>
                  <a:pt x="4523039" y="1807951"/>
                  <a:pt x="4415745" y="2003097"/>
                  <a:pt x="4456176" y="2120189"/>
                </a:cubicBezTo>
                <a:cubicBezTo>
                  <a:pt x="4496607" y="2237281"/>
                  <a:pt x="4399893" y="2454525"/>
                  <a:pt x="4456176" y="2693213"/>
                </a:cubicBezTo>
                <a:cubicBezTo>
                  <a:pt x="4512459" y="2931901"/>
                  <a:pt x="4419066" y="3126005"/>
                  <a:pt x="4456176" y="3438144"/>
                </a:cubicBezTo>
                <a:cubicBezTo>
                  <a:pt x="4299287" y="3486861"/>
                  <a:pt x="4200772" y="3427360"/>
                  <a:pt x="4032839" y="3438144"/>
                </a:cubicBezTo>
                <a:cubicBezTo>
                  <a:pt x="3864906" y="3448928"/>
                  <a:pt x="3538516" y="3426393"/>
                  <a:pt x="3386694" y="3438144"/>
                </a:cubicBezTo>
                <a:cubicBezTo>
                  <a:pt x="3234873" y="3449895"/>
                  <a:pt x="3053684" y="3381807"/>
                  <a:pt x="2785110" y="3438144"/>
                </a:cubicBezTo>
                <a:cubicBezTo>
                  <a:pt x="2516536" y="3494481"/>
                  <a:pt x="2443614" y="3435662"/>
                  <a:pt x="2272650" y="3438144"/>
                </a:cubicBezTo>
                <a:cubicBezTo>
                  <a:pt x="2101686" y="3440626"/>
                  <a:pt x="1876736" y="3435005"/>
                  <a:pt x="1715628" y="3438144"/>
                </a:cubicBezTo>
                <a:cubicBezTo>
                  <a:pt x="1554520" y="3441283"/>
                  <a:pt x="1281654" y="3362386"/>
                  <a:pt x="1069482" y="3438144"/>
                </a:cubicBezTo>
                <a:cubicBezTo>
                  <a:pt x="857310" y="3513902"/>
                  <a:pt x="489333" y="3360325"/>
                  <a:pt x="0" y="3438144"/>
                </a:cubicBezTo>
                <a:cubicBezTo>
                  <a:pt x="-72848" y="3243678"/>
                  <a:pt x="15693" y="2975239"/>
                  <a:pt x="0" y="2830739"/>
                </a:cubicBezTo>
                <a:cubicBezTo>
                  <a:pt x="-15693" y="2686239"/>
                  <a:pt x="11049" y="2518466"/>
                  <a:pt x="0" y="2360859"/>
                </a:cubicBezTo>
                <a:cubicBezTo>
                  <a:pt x="-11049" y="2203252"/>
                  <a:pt x="45468" y="1995049"/>
                  <a:pt x="0" y="1787835"/>
                </a:cubicBezTo>
                <a:cubicBezTo>
                  <a:pt x="-45468" y="1580621"/>
                  <a:pt x="54566" y="1423293"/>
                  <a:pt x="0" y="1214811"/>
                </a:cubicBezTo>
                <a:cubicBezTo>
                  <a:pt x="-54566" y="1006329"/>
                  <a:pt x="15810" y="839437"/>
                  <a:pt x="0" y="710550"/>
                </a:cubicBezTo>
                <a:cubicBezTo>
                  <a:pt x="-15810" y="581663"/>
                  <a:pt x="46367" y="216810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accent5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95995481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1F169F-CE0E-9D2D-C4AF-ED449E6BD026}"/>
              </a:ext>
            </a:extLst>
          </p:cNvPr>
          <p:cNvSpPr txBox="1"/>
          <p:nvPr/>
        </p:nvSpPr>
        <p:spPr>
          <a:xfrm>
            <a:off x="9076944" y="2757022"/>
            <a:ext cx="2980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Ambiente que contiene los “elementos” que estamos trabajando y están cargados en la RAM</a:t>
            </a:r>
            <a:endParaRPr lang="en-GB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32BD05-A9F6-D413-0CC0-67C1D7E0652F}"/>
              </a:ext>
            </a:extLst>
          </p:cNvPr>
          <p:cNvSpPr/>
          <p:nvPr/>
        </p:nvSpPr>
        <p:spPr>
          <a:xfrm>
            <a:off x="64008" y="0"/>
            <a:ext cx="7607808" cy="630936"/>
          </a:xfrm>
          <a:custGeom>
            <a:avLst/>
            <a:gdLst>
              <a:gd name="csX0" fmla="*/ 0 w 7607808"/>
              <a:gd name="csY0" fmla="*/ 0 h 630936"/>
              <a:gd name="csX1" fmla="*/ 585216 w 7607808"/>
              <a:gd name="csY1" fmla="*/ 0 h 630936"/>
              <a:gd name="csX2" fmla="*/ 1246510 w 7607808"/>
              <a:gd name="csY2" fmla="*/ 0 h 630936"/>
              <a:gd name="csX3" fmla="*/ 1831726 w 7607808"/>
              <a:gd name="csY3" fmla="*/ 0 h 630936"/>
              <a:gd name="csX4" fmla="*/ 2416942 w 7607808"/>
              <a:gd name="csY4" fmla="*/ 0 h 630936"/>
              <a:gd name="csX5" fmla="*/ 3078236 w 7607808"/>
              <a:gd name="csY5" fmla="*/ 0 h 630936"/>
              <a:gd name="csX6" fmla="*/ 3587374 w 7607808"/>
              <a:gd name="csY6" fmla="*/ 0 h 630936"/>
              <a:gd name="csX7" fmla="*/ 3944356 w 7607808"/>
              <a:gd name="csY7" fmla="*/ 0 h 630936"/>
              <a:gd name="csX8" fmla="*/ 4681728 w 7607808"/>
              <a:gd name="csY8" fmla="*/ 0 h 630936"/>
              <a:gd name="csX9" fmla="*/ 5114788 w 7607808"/>
              <a:gd name="csY9" fmla="*/ 0 h 630936"/>
              <a:gd name="csX10" fmla="*/ 5700004 w 7607808"/>
              <a:gd name="csY10" fmla="*/ 0 h 630936"/>
              <a:gd name="csX11" fmla="*/ 6361298 w 7607808"/>
              <a:gd name="csY11" fmla="*/ 0 h 630936"/>
              <a:gd name="csX12" fmla="*/ 6794358 w 7607808"/>
              <a:gd name="csY12" fmla="*/ 0 h 630936"/>
              <a:gd name="csX13" fmla="*/ 7607808 w 7607808"/>
              <a:gd name="csY13" fmla="*/ 0 h 630936"/>
              <a:gd name="csX14" fmla="*/ 7607808 w 7607808"/>
              <a:gd name="csY14" fmla="*/ 328087 h 630936"/>
              <a:gd name="csX15" fmla="*/ 7607808 w 7607808"/>
              <a:gd name="csY15" fmla="*/ 630936 h 630936"/>
              <a:gd name="csX16" fmla="*/ 6946514 w 7607808"/>
              <a:gd name="csY16" fmla="*/ 630936 h 630936"/>
              <a:gd name="csX17" fmla="*/ 6285220 w 7607808"/>
              <a:gd name="csY17" fmla="*/ 630936 h 630936"/>
              <a:gd name="csX18" fmla="*/ 5776082 w 7607808"/>
              <a:gd name="csY18" fmla="*/ 630936 h 630936"/>
              <a:gd name="csX19" fmla="*/ 5190866 w 7607808"/>
              <a:gd name="csY19" fmla="*/ 630936 h 630936"/>
              <a:gd name="csX20" fmla="*/ 4453494 w 7607808"/>
              <a:gd name="csY20" fmla="*/ 630936 h 630936"/>
              <a:gd name="csX21" fmla="*/ 3716122 w 7607808"/>
              <a:gd name="csY21" fmla="*/ 630936 h 630936"/>
              <a:gd name="csX22" fmla="*/ 3054828 w 7607808"/>
              <a:gd name="csY22" fmla="*/ 630936 h 630936"/>
              <a:gd name="csX23" fmla="*/ 2317455 w 7607808"/>
              <a:gd name="csY23" fmla="*/ 630936 h 630936"/>
              <a:gd name="csX24" fmla="*/ 1580083 w 7607808"/>
              <a:gd name="csY24" fmla="*/ 630936 h 630936"/>
              <a:gd name="csX25" fmla="*/ 1147023 w 7607808"/>
              <a:gd name="csY25" fmla="*/ 630936 h 630936"/>
              <a:gd name="csX26" fmla="*/ 0 w 7607808"/>
              <a:gd name="csY26" fmla="*/ 630936 h 630936"/>
              <a:gd name="csX27" fmla="*/ 0 w 7607808"/>
              <a:gd name="csY27" fmla="*/ 315468 h 630936"/>
              <a:gd name="csX28" fmla="*/ 0 w 7607808"/>
              <a:gd name="csY28" fmla="*/ 0 h 6309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07808" h="630936" extrusionOk="0">
                <a:moveTo>
                  <a:pt x="0" y="0"/>
                </a:moveTo>
                <a:cubicBezTo>
                  <a:pt x="223017" y="-7206"/>
                  <a:pt x="343820" y="60447"/>
                  <a:pt x="585216" y="0"/>
                </a:cubicBezTo>
                <a:cubicBezTo>
                  <a:pt x="826612" y="-60447"/>
                  <a:pt x="991379" y="71524"/>
                  <a:pt x="1246510" y="0"/>
                </a:cubicBezTo>
                <a:cubicBezTo>
                  <a:pt x="1501641" y="-71524"/>
                  <a:pt x="1684743" y="37105"/>
                  <a:pt x="1831726" y="0"/>
                </a:cubicBezTo>
                <a:cubicBezTo>
                  <a:pt x="1978709" y="-37105"/>
                  <a:pt x="2240443" y="46961"/>
                  <a:pt x="2416942" y="0"/>
                </a:cubicBezTo>
                <a:cubicBezTo>
                  <a:pt x="2593441" y="-46961"/>
                  <a:pt x="2925388" y="61541"/>
                  <a:pt x="3078236" y="0"/>
                </a:cubicBezTo>
                <a:cubicBezTo>
                  <a:pt x="3231084" y="-61541"/>
                  <a:pt x="3363000" y="15929"/>
                  <a:pt x="3587374" y="0"/>
                </a:cubicBezTo>
                <a:cubicBezTo>
                  <a:pt x="3811748" y="-15929"/>
                  <a:pt x="3859573" y="38976"/>
                  <a:pt x="3944356" y="0"/>
                </a:cubicBezTo>
                <a:cubicBezTo>
                  <a:pt x="4029139" y="-38976"/>
                  <a:pt x="4417270" y="24246"/>
                  <a:pt x="4681728" y="0"/>
                </a:cubicBezTo>
                <a:cubicBezTo>
                  <a:pt x="4946186" y="-24246"/>
                  <a:pt x="4974480" y="51328"/>
                  <a:pt x="5114788" y="0"/>
                </a:cubicBezTo>
                <a:cubicBezTo>
                  <a:pt x="5255096" y="-51328"/>
                  <a:pt x="5455897" y="50907"/>
                  <a:pt x="5700004" y="0"/>
                </a:cubicBezTo>
                <a:cubicBezTo>
                  <a:pt x="5944111" y="-50907"/>
                  <a:pt x="6135515" y="36882"/>
                  <a:pt x="6361298" y="0"/>
                </a:cubicBezTo>
                <a:cubicBezTo>
                  <a:pt x="6587081" y="-36882"/>
                  <a:pt x="6694820" y="48247"/>
                  <a:pt x="6794358" y="0"/>
                </a:cubicBezTo>
                <a:cubicBezTo>
                  <a:pt x="6893896" y="-48247"/>
                  <a:pt x="7341739" y="76719"/>
                  <a:pt x="7607808" y="0"/>
                </a:cubicBezTo>
                <a:cubicBezTo>
                  <a:pt x="7613161" y="93587"/>
                  <a:pt x="7586079" y="177870"/>
                  <a:pt x="7607808" y="328087"/>
                </a:cubicBezTo>
                <a:cubicBezTo>
                  <a:pt x="7629537" y="478304"/>
                  <a:pt x="7606027" y="522110"/>
                  <a:pt x="7607808" y="630936"/>
                </a:cubicBezTo>
                <a:cubicBezTo>
                  <a:pt x="7408747" y="670273"/>
                  <a:pt x="7256377" y="552960"/>
                  <a:pt x="6946514" y="630936"/>
                </a:cubicBezTo>
                <a:cubicBezTo>
                  <a:pt x="6636651" y="708912"/>
                  <a:pt x="6472394" y="623536"/>
                  <a:pt x="6285220" y="630936"/>
                </a:cubicBezTo>
                <a:cubicBezTo>
                  <a:pt x="6098046" y="638336"/>
                  <a:pt x="5906784" y="605441"/>
                  <a:pt x="5776082" y="630936"/>
                </a:cubicBezTo>
                <a:cubicBezTo>
                  <a:pt x="5645380" y="656431"/>
                  <a:pt x="5482758" y="625694"/>
                  <a:pt x="5190866" y="630936"/>
                </a:cubicBezTo>
                <a:cubicBezTo>
                  <a:pt x="4898974" y="636178"/>
                  <a:pt x="4659817" y="629717"/>
                  <a:pt x="4453494" y="630936"/>
                </a:cubicBezTo>
                <a:cubicBezTo>
                  <a:pt x="4247171" y="632155"/>
                  <a:pt x="3867474" y="589128"/>
                  <a:pt x="3716122" y="630936"/>
                </a:cubicBezTo>
                <a:cubicBezTo>
                  <a:pt x="3564770" y="672744"/>
                  <a:pt x="3208320" y="623415"/>
                  <a:pt x="3054828" y="630936"/>
                </a:cubicBezTo>
                <a:cubicBezTo>
                  <a:pt x="2901336" y="638457"/>
                  <a:pt x="2578007" y="587024"/>
                  <a:pt x="2317455" y="630936"/>
                </a:cubicBezTo>
                <a:cubicBezTo>
                  <a:pt x="2056903" y="674848"/>
                  <a:pt x="1747261" y="546707"/>
                  <a:pt x="1580083" y="630936"/>
                </a:cubicBezTo>
                <a:cubicBezTo>
                  <a:pt x="1412905" y="715165"/>
                  <a:pt x="1286362" y="587996"/>
                  <a:pt x="1147023" y="630936"/>
                </a:cubicBezTo>
                <a:cubicBezTo>
                  <a:pt x="1007684" y="673876"/>
                  <a:pt x="492363" y="564404"/>
                  <a:pt x="0" y="630936"/>
                </a:cubicBezTo>
                <a:cubicBezTo>
                  <a:pt x="-21256" y="533329"/>
                  <a:pt x="11559" y="434047"/>
                  <a:pt x="0" y="315468"/>
                </a:cubicBezTo>
                <a:cubicBezTo>
                  <a:pt x="-11559" y="196889"/>
                  <a:pt x="6457" y="122647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accent2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95995481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70FF70-17B2-87D0-8567-BCBA02DD3F90}"/>
              </a:ext>
            </a:extLst>
          </p:cNvPr>
          <p:cNvSpPr txBox="1"/>
          <p:nvPr/>
        </p:nvSpPr>
        <p:spPr>
          <a:xfrm>
            <a:off x="5556504" y="212274"/>
            <a:ext cx="2980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2">
                    <a:lumMod val="50000"/>
                  </a:schemeClr>
                </a:solidFill>
              </a:rPr>
              <a:t>Barra de opciones</a:t>
            </a:r>
            <a:endParaRPr lang="en-GB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D449BD-CA70-E8B3-D3D1-7760A6AE582F}"/>
              </a:ext>
            </a:extLst>
          </p:cNvPr>
          <p:cNvSpPr/>
          <p:nvPr/>
        </p:nvSpPr>
        <p:spPr>
          <a:xfrm>
            <a:off x="7703820" y="4118410"/>
            <a:ext cx="4488180" cy="2625975"/>
          </a:xfrm>
          <a:custGeom>
            <a:avLst/>
            <a:gdLst>
              <a:gd name="csX0" fmla="*/ 0 w 4488180"/>
              <a:gd name="csY0" fmla="*/ 0 h 2625975"/>
              <a:gd name="csX1" fmla="*/ 561023 w 4488180"/>
              <a:gd name="csY1" fmla="*/ 0 h 2625975"/>
              <a:gd name="csX2" fmla="*/ 1166927 w 4488180"/>
              <a:gd name="csY2" fmla="*/ 0 h 2625975"/>
              <a:gd name="csX3" fmla="*/ 1727949 w 4488180"/>
              <a:gd name="csY3" fmla="*/ 0 h 2625975"/>
              <a:gd name="csX4" fmla="*/ 2288972 w 4488180"/>
              <a:gd name="csY4" fmla="*/ 0 h 2625975"/>
              <a:gd name="csX5" fmla="*/ 2894876 w 4488180"/>
              <a:gd name="csY5" fmla="*/ 0 h 2625975"/>
              <a:gd name="csX6" fmla="*/ 3411017 w 4488180"/>
              <a:gd name="csY6" fmla="*/ 0 h 2625975"/>
              <a:gd name="csX7" fmla="*/ 3837394 w 4488180"/>
              <a:gd name="csY7" fmla="*/ 0 h 2625975"/>
              <a:gd name="csX8" fmla="*/ 4488180 w 4488180"/>
              <a:gd name="csY8" fmla="*/ 0 h 2625975"/>
              <a:gd name="csX9" fmla="*/ 4488180 w 4488180"/>
              <a:gd name="csY9" fmla="*/ 472676 h 2625975"/>
              <a:gd name="csX10" fmla="*/ 4488180 w 4488180"/>
              <a:gd name="csY10" fmla="*/ 945351 h 2625975"/>
              <a:gd name="csX11" fmla="*/ 4488180 w 4488180"/>
              <a:gd name="csY11" fmla="*/ 1470546 h 2625975"/>
              <a:gd name="csX12" fmla="*/ 4488180 w 4488180"/>
              <a:gd name="csY12" fmla="*/ 1969481 h 2625975"/>
              <a:gd name="csX13" fmla="*/ 4488180 w 4488180"/>
              <a:gd name="csY13" fmla="*/ 2625975 h 2625975"/>
              <a:gd name="csX14" fmla="*/ 3882276 w 4488180"/>
              <a:gd name="csY14" fmla="*/ 2625975 h 2625975"/>
              <a:gd name="csX15" fmla="*/ 3455899 w 4488180"/>
              <a:gd name="csY15" fmla="*/ 2625975 h 2625975"/>
              <a:gd name="csX16" fmla="*/ 2805113 w 4488180"/>
              <a:gd name="csY16" fmla="*/ 2625975 h 2625975"/>
              <a:gd name="csX17" fmla="*/ 2199208 w 4488180"/>
              <a:gd name="csY17" fmla="*/ 2625975 h 2625975"/>
              <a:gd name="csX18" fmla="*/ 1683068 w 4488180"/>
              <a:gd name="csY18" fmla="*/ 2625975 h 2625975"/>
              <a:gd name="csX19" fmla="*/ 1122045 w 4488180"/>
              <a:gd name="csY19" fmla="*/ 2625975 h 2625975"/>
              <a:gd name="csX20" fmla="*/ 0 w 4488180"/>
              <a:gd name="csY20" fmla="*/ 2625975 h 2625975"/>
              <a:gd name="csX21" fmla="*/ 0 w 4488180"/>
              <a:gd name="csY21" fmla="*/ 2048261 h 2625975"/>
              <a:gd name="csX22" fmla="*/ 0 w 4488180"/>
              <a:gd name="csY22" fmla="*/ 1549325 h 2625975"/>
              <a:gd name="csX23" fmla="*/ 0 w 4488180"/>
              <a:gd name="csY23" fmla="*/ 1102909 h 2625975"/>
              <a:gd name="csX24" fmla="*/ 0 w 4488180"/>
              <a:gd name="csY24" fmla="*/ 577714 h 2625975"/>
              <a:gd name="csX25" fmla="*/ 0 w 4488180"/>
              <a:gd name="csY25" fmla="*/ 0 h 2625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4488180" h="2625975" extrusionOk="0">
                <a:moveTo>
                  <a:pt x="0" y="0"/>
                </a:moveTo>
                <a:cubicBezTo>
                  <a:pt x="197338" y="-55356"/>
                  <a:pt x="401775" y="3411"/>
                  <a:pt x="561023" y="0"/>
                </a:cubicBezTo>
                <a:cubicBezTo>
                  <a:pt x="720271" y="-3411"/>
                  <a:pt x="1005607" y="38810"/>
                  <a:pt x="1166927" y="0"/>
                </a:cubicBezTo>
                <a:cubicBezTo>
                  <a:pt x="1328247" y="-38810"/>
                  <a:pt x="1471551" y="19337"/>
                  <a:pt x="1727949" y="0"/>
                </a:cubicBezTo>
                <a:cubicBezTo>
                  <a:pt x="1984347" y="-19337"/>
                  <a:pt x="2038692" y="47679"/>
                  <a:pt x="2288972" y="0"/>
                </a:cubicBezTo>
                <a:cubicBezTo>
                  <a:pt x="2539252" y="-47679"/>
                  <a:pt x="2657248" y="61058"/>
                  <a:pt x="2894876" y="0"/>
                </a:cubicBezTo>
                <a:cubicBezTo>
                  <a:pt x="3132504" y="-61058"/>
                  <a:pt x="3244420" y="8941"/>
                  <a:pt x="3411017" y="0"/>
                </a:cubicBezTo>
                <a:cubicBezTo>
                  <a:pt x="3577614" y="-8941"/>
                  <a:pt x="3643299" y="15803"/>
                  <a:pt x="3837394" y="0"/>
                </a:cubicBezTo>
                <a:cubicBezTo>
                  <a:pt x="4031489" y="-15803"/>
                  <a:pt x="4174882" y="47840"/>
                  <a:pt x="4488180" y="0"/>
                </a:cubicBezTo>
                <a:cubicBezTo>
                  <a:pt x="4528835" y="166479"/>
                  <a:pt x="4458463" y="301311"/>
                  <a:pt x="4488180" y="472676"/>
                </a:cubicBezTo>
                <a:cubicBezTo>
                  <a:pt x="4517897" y="644041"/>
                  <a:pt x="4455782" y="806814"/>
                  <a:pt x="4488180" y="945351"/>
                </a:cubicBezTo>
                <a:cubicBezTo>
                  <a:pt x="4520578" y="1083888"/>
                  <a:pt x="4449444" y="1219386"/>
                  <a:pt x="4488180" y="1470546"/>
                </a:cubicBezTo>
                <a:cubicBezTo>
                  <a:pt x="4526916" y="1721707"/>
                  <a:pt x="4479459" y="1793011"/>
                  <a:pt x="4488180" y="1969481"/>
                </a:cubicBezTo>
                <a:cubicBezTo>
                  <a:pt x="4496901" y="2145952"/>
                  <a:pt x="4454644" y="2418711"/>
                  <a:pt x="4488180" y="2625975"/>
                </a:cubicBezTo>
                <a:cubicBezTo>
                  <a:pt x="4229689" y="2647179"/>
                  <a:pt x="4140096" y="2597087"/>
                  <a:pt x="3882276" y="2625975"/>
                </a:cubicBezTo>
                <a:cubicBezTo>
                  <a:pt x="3624456" y="2654863"/>
                  <a:pt x="3623006" y="2575012"/>
                  <a:pt x="3455899" y="2625975"/>
                </a:cubicBezTo>
                <a:cubicBezTo>
                  <a:pt x="3288792" y="2676938"/>
                  <a:pt x="2997876" y="2557235"/>
                  <a:pt x="2805113" y="2625975"/>
                </a:cubicBezTo>
                <a:cubicBezTo>
                  <a:pt x="2612350" y="2694715"/>
                  <a:pt x="2354065" y="2582852"/>
                  <a:pt x="2199208" y="2625975"/>
                </a:cubicBezTo>
                <a:cubicBezTo>
                  <a:pt x="2044351" y="2669098"/>
                  <a:pt x="1833608" y="2613437"/>
                  <a:pt x="1683068" y="2625975"/>
                </a:cubicBezTo>
                <a:cubicBezTo>
                  <a:pt x="1532528" y="2638513"/>
                  <a:pt x="1275862" y="2580866"/>
                  <a:pt x="1122045" y="2625975"/>
                </a:cubicBezTo>
                <a:cubicBezTo>
                  <a:pt x="968228" y="2671084"/>
                  <a:pt x="411999" y="2541988"/>
                  <a:pt x="0" y="2625975"/>
                </a:cubicBezTo>
                <a:cubicBezTo>
                  <a:pt x="-49039" y="2391519"/>
                  <a:pt x="63364" y="2174925"/>
                  <a:pt x="0" y="2048261"/>
                </a:cubicBezTo>
                <a:cubicBezTo>
                  <a:pt x="-63364" y="1921597"/>
                  <a:pt x="37103" y="1769245"/>
                  <a:pt x="0" y="1549325"/>
                </a:cubicBezTo>
                <a:cubicBezTo>
                  <a:pt x="-37103" y="1329405"/>
                  <a:pt x="17489" y="1216382"/>
                  <a:pt x="0" y="1102909"/>
                </a:cubicBezTo>
                <a:cubicBezTo>
                  <a:pt x="-17489" y="989436"/>
                  <a:pt x="681" y="734763"/>
                  <a:pt x="0" y="577714"/>
                </a:cubicBezTo>
                <a:cubicBezTo>
                  <a:pt x="-681" y="420665"/>
                  <a:pt x="55554" y="288011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295995481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FA9DB-9801-5436-A96B-9E6F4A3018F3}"/>
              </a:ext>
            </a:extLst>
          </p:cNvPr>
          <p:cNvSpPr txBox="1"/>
          <p:nvPr/>
        </p:nvSpPr>
        <p:spPr>
          <a:xfrm>
            <a:off x="9147048" y="5621772"/>
            <a:ext cx="2980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6">
                    <a:lumMod val="50000"/>
                  </a:schemeClr>
                </a:solidFill>
              </a:rPr>
              <a:t>Archivos del proyecto, visualizador y administrador de paquetes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D0290E-35E7-C543-7239-C2A2A7A54318}"/>
              </a:ext>
            </a:extLst>
          </p:cNvPr>
          <p:cNvSpPr/>
          <p:nvPr/>
        </p:nvSpPr>
        <p:spPr>
          <a:xfrm>
            <a:off x="64008" y="630936"/>
            <a:ext cx="7607808" cy="2499360"/>
          </a:xfrm>
          <a:custGeom>
            <a:avLst/>
            <a:gdLst>
              <a:gd name="csX0" fmla="*/ 0 w 7607808"/>
              <a:gd name="csY0" fmla="*/ 0 h 2499360"/>
              <a:gd name="csX1" fmla="*/ 585216 w 7607808"/>
              <a:gd name="csY1" fmla="*/ 0 h 2499360"/>
              <a:gd name="csX2" fmla="*/ 1246510 w 7607808"/>
              <a:gd name="csY2" fmla="*/ 0 h 2499360"/>
              <a:gd name="csX3" fmla="*/ 1831726 w 7607808"/>
              <a:gd name="csY3" fmla="*/ 0 h 2499360"/>
              <a:gd name="csX4" fmla="*/ 2416942 w 7607808"/>
              <a:gd name="csY4" fmla="*/ 0 h 2499360"/>
              <a:gd name="csX5" fmla="*/ 3078236 w 7607808"/>
              <a:gd name="csY5" fmla="*/ 0 h 2499360"/>
              <a:gd name="csX6" fmla="*/ 3587374 w 7607808"/>
              <a:gd name="csY6" fmla="*/ 0 h 2499360"/>
              <a:gd name="csX7" fmla="*/ 3944356 w 7607808"/>
              <a:gd name="csY7" fmla="*/ 0 h 2499360"/>
              <a:gd name="csX8" fmla="*/ 4681728 w 7607808"/>
              <a:gd name="csY8" fmla="*/ 0 h 2499360"/>
              <a:gd name="csX9" fmla="*/ 5114788 w 7607808"/>
              <a:gd name="csY9" fmla="*/ 0 h 2499360"/>
              <a:gd name="csX10" fmla="*/ 5700004 w 7607808"/>
              <a:gd name="csY10" fmla="*/ 0 h 2499360"/>
              <a:gd name="csX11" fmla="*/ 6361298 w 7607808"/>
              <a:gd name="csY11" fmla="*/ 0 h 2499360"/>
              <a:gd name="csX12" fmla="*/ 6794358 w 7607808"/>
              <a:gd name="csY12" fmla="*/ 0 h 2499360"/>
              <a:gd name="csX13" fmla="*/ 7607808 w 7607808"/>
              <a:gd name="csY13" fmla="*/ 0 h 2499360"/>
              <a:gd name="csX14" fmla="*/ 7607808 w 7607808"/>
              <a:gd name="csY14" fmla="*/ 549859 h 2499360"/>
              <a:gd name="csX15" fmla="*/ 7607808 w 7607808"/>
              <a:gd name="csY15" fmla="*/ 974750 h 2499360"/>
              <a:gd name="csX16" fmla="*/ 7607808 w 7607808"/>
              <a:gd name="csY16" fmla="*/ 1499616 h 2499360"/>
              <a:gd name="csX17" fmla="*/ 7607808 w 7607808"/>
              <a:gd name="csY17" fmla="*/ 2024482 h 2499360"/>
              <a:gd name="csX18" fmla="*/ 7607808 w 7607808"/>
              <a:gd name="csY18" fmla="*/ 2499360 h 2499360"/>
              <a:gd name="csX19" fmla="*/ 6870436 w 7607808"/>
              <a:gd name="csY19" fmla="*/ 2499360 h 2499360"/>
              <a:gd name="csX20" fmla="*/ 6133064 w 7607808"/>
              <a:gd name="csY20" fmla="*/ 2499360 h 2499360"/>
              <a:gd name="csX21" fmla="*/ 5395692 w 7607808"/>
              <a:gd name="csY21" fmla="*/ 2499360 h 2499360"/>
              <a:gd name="csX22" fmla="*/ 4734397 w 7607808"/>
              <a:gd name="csY22" fmla="*/ 2499360 h 2499360"/>
              <a:gd name="csX23" fmla="*/ 3997025 w 7607808"/>
              <a:gd name="csY23" fmla="*/ 2499360 h 2499360"/>
              <a:gd name="csX24" fmla="*/ 3259653 w 7607808"/>
              <a:gd name="csY24" fmla="*/ 2499360 h 2499360"/>
              <a:gd name="csX25" fmla="*/ 2826593 w 7607808"/>
              <a:gd name="csY25" fmla="*/ 2499360 h 2499360"/>
              <a:gd name="csX26" fmla="*/ 2089221 w 7607808"/>
              <a:gd name="csY26" fmla="*/ 2499360 h 2499360"/>
              <a:gd name="csX27" fmla="*/ 1504005 w 7607808"/>
              <a:gd name="csY27" fmla="*/ 2499360 h 2499360"/>
              <a:gd name="csX28" fmla="*/ 918789 w 7607808"/>
              <a:gd name="csY28" fmla="*/ 2499360 h 2499360"/>
              <a:gd name="csX29" fmla="*/ 0 w 7607808"/>
              <a:gd name="csY29" fmla="*/ 2499360 h 2499360"/>
              <a:gd name="csX30" fmla="*/ 0 w 7607808"/>
              <a:gd name="csY30" fmla="*/ 1974494 h 2499360"/>
              <a:gd name="csX31" fmla="*/ 0 w 7607808"/>
              <a:gd name="csY31" fmla="*/ 1499616 h 2499360"/>
              <a:gd name="csX32" fmla="*/ 0 w 7607808"/>
              <a:gd name="csY32" fmla="*/ 1074725 h 2499360"/>
              <a:gd name="csX33" fmla="*/ 0 w 7607808"/>
              <a:gd name="csY33" fmla="*/ 599846 h 2499360"/>
              <a:gd name="csX34" fmla="*/ 0 w 7607808"/>
              <a:gd name="csY34" fmla="*/ 0 h 24993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7607808" h="2499360" extrusionOk="0">
                <a:moveTo>
                  <a:pt x="0" y="0"/>
                </a:moveTo>
                <a:cubicBezTo>
                  <a:pt x="223017" y="-7206"/>
                  <a:pt x="343820" y="60447"/>
                  <a:pt x="585216" y="0"/>
                </a:cubicBezTo>
                <a:cubicBezTo>
                  <a:pt x="826612" y="-60447"/>
                  <a:pt x="991379" y="71524"/>
                  <a:pt x="1246510" y="0"/>
                </a:cubicBezTo>
                <a:cubicBezTo>
                  <a:pt x="1501641" y="-71524"/>
                  <a:pt x="1684743" y="37105"/>
                  <a:pt x="1831726" y="0"/>
                </a:cubicBezTo>
                <a:cubicBezTo>
                  <a:pt x="1978709" y="-37105"/>
                  <a:pt x="2240443" y="46961"/>
                  <a:pt x="2416942" y="0"/>
                </a:cubicBezTo>
                <a:cubicBezTo>
                  <a:pt x="2593441" y="-46961"/>
                  <a:pt x="2925388" y="61541"/>
                  <a:pt x="3078236" y="0"/>
                </a:cubicBezTo>
                <a:cubicBezTo>
                  <a:pt x="3231084" y="-61541"/>
                  <a:pt x="3363000" y="15929"/>
                  <a:pt x="3587374" y="0"/>
                </a:cubicBezTo>
                <a:cubicBezTo>
                  <a:pt x="3811748" y="-15929"/>
                  <a:pt x="3859573" y="38976"/>
                  <a:pt x="3944356" y="0"/>
                </a:cubicBezTo>
                <a:cubicBezTo>
                  <a:pt x="4029139" y="-38976"/>
                  <a:pt x="4417270" y="24246"/>
                  <a:pt x="4681728" y="0"/>
                </a:cubicBezTo>
                <a:cubicBezTo>
                  <a:pt x="4946186" y="-24246"/>
                  <a:pt x="4974480" y="51328"/>
                  <a:pt x="5114788" y="0"/>
                </a:cubicBezTo>
                <a:cubicBezTo>
                  <a:pt x="5255096" y="-51328"/>
                  <a:pt x="5455897" y="50907"/>
                  <a:pt x="5700004" y="0"/>
                </a:cubicBezTo>
                <a:cubicBezTo>
                  <a:pt x="5944111" y="-50907"/>
                  <a:pt x="6135515" y="36882"/>
                  <a:pt x="6361298" y="0"/>
                </a:cubicBezTo>
                <a:cubicBezTo>
                  <a:pt x="6587081" y="-36882"/>
                  <a:pt x="6694820" y="48247"/>
                  <a:pt x="6794358" y="0"/>
                </a:cubicBezTo>
                <a:cubicBezTo>
                  <a:pt x="6893896" y="-48247"/>
                  <a:pt x="7341739" y="76719"/>
                  <a:pt x="7607808" y="0"/>
                </a:cubicBezTo>
                <a:cubicBezTo>
                  <a:pt x="7618895" y="249690"/>
                  <a:pt x="7591232" y="293961"/>
                  <a:pt x="7607808" y="549859"/>
                </a:cubicBezTo>
                <a:cubicBezTo>
                  <a:pt x="7624384" y="805757"/>
                  <a:pt x="7592267" y="793697"/>
                  <a:pt x="7607808" y="974750"/>
                </a:cubicBezTo>
                <a:cubicBezTo>
                  <a:pt x="7623349" y="1155803"/>
                  <a:pt x="7569325" y="1258481"/>
                  <a:pt x="7607808" y="1499616"/>
                </a:cubicBezTo>
                <a:cubicBezTo>
                  <a:pt x="7646291" y="1740751"/>
                  <a:pt x="7591590" y="1868191"/>
                  <a:pt x="7607808" y="2024482"/>
                </a:cubicBezTo>
                <a:cubicBezTo>
                  <a:pt x="7624026" y="2180773"/>
                  <a:pt x="7561656" y="2289434"/>
                  <a:pt x="7607808" y="2499360"/>
                </a:cubicBezTo>
                <a:cubicBezTo>
                  <a:pt x="7367617" y="2509983"/>
                  <a:pt x="7075158" y="2437308"/>
                  <a:pt x="6870436" y="2499360"/>
                </a:cubicBezTo>
                <a:cubicBezTo>
                  <a:pt x="6665714" y="2561412"/>
                  <a:pt x="6339387" y="2498141"/>
                  <a:pt x="6133064" y="2499360"/>
                </a:cubicBezTo>
                <a:cubicBezTo>
                  <a:pt x="5926741" y="2500579"/>
                  <a:pt x="5547044" y="2457552"/>
                  <a:pt x="5395692" y="2499360"/>
                </a:cubicBezTo>
                <a:cubicBezTo>
                  <a:pt x="5244340" y="2541168"/>
                  <a:pt x="4893549" y="2498024"/>
                  <a:pt x="4734397" y="2499360"/>
                </a:cubicBezTo>
                <a:cubicBezTo>
                  <a:pt x="4575246" y="2500696"/>
                  <a:pt x="4257013" y="2452421"/>
                  <a:pt x="3997025" y="2499360"/>
                </a:cubicBezTo>
                <a:cubicBezTo>
                  <a:pt x="3737037" y="2546299"/>
                  <a:pt x="3426831" y="2415131"/>
                  <a:pt x="3259653" y="2499360"/>
                </a:cubicBezTo>
                <a:cubicBezTo>
                  <a:pt x="3092475" y="2583589"/>
                  <a:pt x="2965932" y="2456420"/>
                  <a:pt x="2826593" y="2499360"/>
                </a:cubicBezTo>
                <a:cubicBezTo>
                  <a:pt x="2687254" y="2542300"/>
                  <a:pt x="2353367" y="2413380"/>
                  <a:pt x="2089221" y="2499360"/>
                </a:cubicBezTo>
                <a:cubicBezTo>
                  <a:pt x="1825075" y="2585340"/>
                  <a:pt x="1705080" y="2485503"/>
                  <a:pt x="1504005" y="2499360"/>
                </a:cubicBezTo>
                <a:cubicBezTo>
                  <a:pt x="1302930" y="2513217"/>
                  <a:pt x="1141299" y="2429733"/>
                  <a:pt x="918789" y="2499360"/>
                </a:cubicBezTo>
                <a:cubicBezTo>
                  <a:pt x="696279" y="2568987"/>
                  <a:pt x="434825" y="2465928"/>
                  <a:pt x="0" y="2499360"/>
                </a:cubicBezTo>
                <a:cubicBezTo>
                  <a:pt x="-42361" y="2324308"/>
                  <a:pt x="34460" y="2169221"/>
                  <a:pt x="0" y="1974494"/>
                </a:cubicBezTo>
                <a:cubicBezTo>
                  <a:pt x="-34460" y="1779767"/>
                  <a:pt x="37419" y="1606762"/>
                  <a:pt x="0" y="1499616"/>
                </a:cubicBezTo>
                <a:cubicBezTo>
                  <a:pt x="-37419" y="1392470"/>
                  <a:pt x="16991" y="1272292"/>
                  <a:pt x="0" y="1074725"/>
                </a:cubicBezTo>
                <a:cubicBezTo>
                  <a:pt x="-16991" y="877158"/>
                  <a:pt x="45248" y="771928"/>
                  <a:pt x="0" y="599846"/>
                </a:cubicBezTo>
                <a:cubicBezTo>
                  <a:pt x="-45248" y="427764"/>
                  <a:pt x="37911" y="184974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295995481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3DF253-CDBB-F340-D30F-D677DFA5DA78}"/>
              </a:ext>
            </a:extLst>
          </p:cNvPr>
          <p:cNvSpPr txBox="1"/>
          <p:nvPr/>
        </p:nvSpPr>
        <p:spPr>
          <a:xfrm>
            <a:off x="4276344" y="2076172"/>
            <a:ext cx="2980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Acá también se visualizan los objetos (ej. Tablas)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74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A1181-8703-4069-5491-923B878CC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0A234-20A4-E13C-4B5E-ABB338F29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en-US" sz="3200" b="1" dirty="0" err="1">
                <a:solidFill>
                  <a:srgbClr val="0070C0"/>
                </a:solidFill>
                <a:sym typeface="Arial"/>
              </a:rPr>
              <a:t>Flujo</a:t>
            </a:r>
            <a:r>
              <a:rPr lang="en-US" sz="3200" b="1" dirty="0">
                <a:solidFill>
                  <a:srgbClr val="0070C0"/>
                </a:solidFill>
                <a:sym typeface="Arial"/>
              </a:rPr>
              <a:t> de </a:t>
            </a:r>
            <a:r>
              <a:rPr lang="en-US" sz="3200" b="1" dirty="0" err="1">
                <a:solidFill>
                  <a:srgbClr val="0070C0"/>
                </a:solidFill>
                <a:sym typeface="Arial"/>
              </a:rPr>
              <a:t>trabajo</a:t>
            </a:r>
            <a:r>
              <a:rPr lang="en-US" sz="3200" b="1" dirty="0">
                <a:solidFill>
                  <a:srgbClr val="0070C0"/>
                </a:solidFill>
                <a:sym typeface="Arial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sym typeface="Arial"/>
              </a:rPr>
              <a:t>en</a:t>
            </a:r>
            <a:r>
              <a:rPr lang="en-US" sz="3200" b="1" dirty="0">
                <a:solidFill>
                  <a:srgbClr val="0070C0"/>
                </a:solidFill>
                <a:sym typeface="Arial"/>
              </a:rPr>
              <a:t> 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AE6E5-BBD9-79E3-77F6-06427A776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138" y="2375352"/>
            <a:ext cx="398293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 algn="just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CL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Arial"/>
              </a:rPr>
              <a:t>Diferentes perfiles 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CL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Arial"/>
              </a:rPr>
              <a:t>Visualización de datos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CL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Arial"/>
              </a:rPr>
              <a:t>Flujo completo de </a:t>
            </a:r>
            <a:r>
              <a:rPr lang="es-CL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trabajo 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109B1C-370B-6E60-A390-2B19D7B32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232" y="2172959"/>
            <a:ext cx="6004984" cy="2284941"/>
          </a:xfrm>
          <a:prstGeom prst="rect">
            <a:avLst/>
          </a:prstGeom>
        </p:spPr>
      </p:pic>
      <p:pic>
        <p:nvPicPr>
          <p:cNvPr id="8" name="Imagen 7" descr="Fuegos artificiales en el cielo&#10;&#10;El contenido generado por IA puede ser incorrecto.">
            <a:extLst>
              <a:ext uri="{FF2B5EF4-FFF2-40B4-BE49-F238E27FC236}">
                <a16:creationId xmlns:a16="http://schemas.microsoft.com/office/drawing/2014/main" id="{CED5B29D-CE57-10A1-54DC-712D8DF1C3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44" t="73388" r="5661" b="22121"/>
          <a:stretch>
            <a:fillRect/>
          </a:stretch>
        </p:blipFill>
        <p:spPr>
          <a:xfrm>
            <a:off x="0" y="6376368"/>
            <a:ext cx="12192000" cy="48163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DC471C6-DA22-0129-1DA6-F55643528FDF}"/>
              </a:ext>
            </a:extLst>
          </p:cNvPr>
          <p:cNvSpPr txBox="1"/>
          <p:nvPr/>
        </p:nvSpPr>
        <p:spPr>
          <a:xfrm>
            <a:off x="7730836" y="5142016"/>
            <a:ext cx="37526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100" b="1" dirty="0"/>
              <a:t>Fuente: </a:t>
            </a:r>
            <a:r>
              <a:rPr lang="es-CL" sz="1100" dirty="0"/>
              <a:t>R para ciencia de Datos / https://es.r4ds.hadley.nz/</a:t>
            </a:r>
          </a:p>
        </p:txBody>
      </p:sp>
    </p:spTree>
    <p:extLst>
      <p:ext uri="{BB962C8B-B14F-4D97-AF65-F5344CB8AC3E}">
        <p14:creationId xmlns:p14="http://schemas.microsoft.com/office/powerpoint/2010/main" val="191643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4A7067-7615-96D2-7EA8-50B3109C7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buClr>
                <a:srgbClr val="000000"/>
              </a:buClr>
            </a:pPr>
            <a:r>
              <a:rPr lang="es-CL" sz="3200" b="1" dirty="0">
                <a:solidFill>
                  <a:srgbClr val="0070C0"/>
                </a:solidFill>
              </a:rPr>
              <a:t>¿Qué se puede hacer con R?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EBF459-DEC9-A7F7-D95D-8644C5825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10800000" flipV="1">
            <a:off x="838200" y="5628088"/>
            <a:ext cx="4677888" cy="401967"/>
          </a:xfrm>
        </p:spPr>
        <p:txBody>
          <a:bodyPr>
            <a:normAutofit fontScale="55000" lnSpcReduction="20000"/>
          </a:bodyPr>
          <a:lstStyle/>
          <a:p>
            <a:pPr marL="285750" indent="-285750" algn="just">
              <a:lnSpc>
                <a:spcPct val="120000"/>
              </a:lnSpc>
              <a:spcBef>
                <a:spcPts val="0"/>
              </a:spcBef>
              <a:buSzPts val="2000"/>
            </a:pPr>
            <a:r>
              <a:rPr lang="es-CL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Arial"/>
              </a:rPr>
              <a:t>Entonces nos permite trabajar con tablas, mapas, gráficos.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30EF2AA-1E30-7F19-4037-77BEF24F8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959" y="872858"/>
            <a:ext cx="4072843" cy="385091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266B5FB-9E04-32B3-558D-32B910095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755" y="1557965"/>
            <a:ext cx="5618827" cy="3742070"/>
          </a:xfrm>
          <a:prstGeom prst="rect">
            <a:avLst/>
          </a:prstGeom>
        </p:spPr>
      </p:pic>
      <p:pic>
        <p:nvPicPr>
          <p:cNvPr id="10" name="Picture 5">
            <a:extLst>
              <a:ext uri="{FF2B5EF4-FFF2-40B4-BE49-F238E27FC236}">
                <a16:creationId xmlns:a16="http://schemas.microsoft.com/office/drawing/2014/main" id="{BC57E440-D971-35B1-01A5-7A295C963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7542" y="4616654"/>
            <a:ext cx="3038355" cy="214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062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E732146E-A212-814E-C817-C5880D2D2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Fuegos artificiales en el cielo&#10;&#10;El contenido generado por IA puede ser incorrecto.">
            <a:extLst>
              <a:ext uri="{FF2B5EF4-FFF2-40B4-BE49-F238E27FC236}">
                <a16:creationId xmlns:a16="http://schemas.microsoft.com/office/drawing/2014/main" id="{A155505E-6377-02BD-3AB5-89D784F11A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0228" b="1022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04284F4D-F716-5374-1D42-BC59963D9714}"/>
              </a:ext>
            </a:extLst>
          </p:cNvPr>
          <p:cNvSpPr/>
          <p:nvPr/>
        </p:nvSpPr>
        <p:spPr>
          <a:xfrm>
            <a:off x="0" y="4334776"/>
            <a:ext cx="7200000" cy="1015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CL" sz="3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Paquetes</a:t>
            </a:r>
            <a:endParaRPr sz="36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1140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50B24-47CD-8B02-0F96-F04D90C8E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B653E-C704-AB73-52B3-CCD0DBC35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sz="3200" b="1" dirty="0">
                <a:solidFill>
                  <a:srgbClr val="0070C0"/>
                </a:solidFill>
              </a:rPr>
              <a:t>Antes de los paquetes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1B24A28-2EDB-CFD6-EC5E-DBCEE4409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85750" indent="-285750" algn="just">
              <a:lnSpc>
                <a:spcPct val="110000"/>
              </a:lnSpc>
              <a:spcBef>
                <a:spcPts val="0"/>
              </a:spcBef>
              <a:buSzPts val="2000"/>
            </a:pPr>
            <a:r>
              <a:rPr lang="es-CL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Para trabajar con R es necesario conocer algo de la “jerga” o vocabulario usado en este lenguaje de programación.</a:t>
            </a:r>
          </a:p>
          <a:p>
            <a:pPr marL="285750" indent="-285750" algn="just">
              <a:lnSpc>
                <a:spcPct val="110000"/>
              </a:lnSpc>
              <a:spcBef>
                <a:spcPts val="0"/>
              </a:spcBef>
              <a:buSzPts val="2000"/>
            </a:pPr>
            <a:r>
              <a:rPr lang="es-CL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Cuando ejecutamos una serie de órdenes (proceso conocido como “llamar” o “correr” el programa) se está pidiendo a R que realice una instrucción. Cuando R devuelve algo, es que ha realizado lo que le hemos pedido, es decir, nos está proporcionando una salida. </a:t>
            </a:r>
          </a:p>
          <a:p>
            <a:pPr marL="285750" indent="-285750" algn="just">
              <a:lnSpc>
                <a:spcPct val="110000"/>
              </a:lnSpc>
              <a:spcBef>
                <a:spcPts val="0"/>
              </a:spcBef>
              <a:buSzPts val="2000"/>
            </a:pPr>
            <a:r>
              <a:rPr lang="es-CL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Un ejemplo: tras escribir en la consola la operación 1+1 y pulsar enter se está pidiendo a R que se ejecute esa operación, siendo devuelto su resultado a continuación.</a:t>
            </a:r>
          </a:p>
          <a:p>
            <a:endParaRPr lang="es-CL" dirty="0"/>
          </a:p>
        </p:txBody>
      </p:sp>
      <p:pic>
        <p:nvPicPr>
          <p:cNvPr id="5" name="Imagen 4" descr="Función (matemática) - Wikipedia, la enciclopedia libre">
            <a:extLst>
              <a:ext uri="{FF2B5EF4-FFF2-40B4-BE49-F238E27FC236}">
                <a16:creationId xmlns:a16="http://schemas.microsoft.com/office/drawing/2014/main" id="{C2E62C57-7910-41C5-ECA5-AD196EFA8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830" y="2093458"/>
            <a:ext cx="2381250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443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C8AFA-7601-D02A-DE64-9387FCCBD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sz="3200" b="1" dirty="0">
                <a:solidFill>
                  <a:srgbClr val="0070C0"/>
                </a:solidFill>
              </a:rPr>
              <a:t>¿Qué son los paquetes?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73811F-B0C0-81DE-4A2D-20ECFCE99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85750" indent="-285750" algn="just">
              <a:lnSpc>
                <a:spcPct val="110000"/>
              </a:lnSpc>
              <a:spcBef>
                <a:spcPts val="0"/>
              </a:spcBef>
              <a:buSzPts val="2000"/>
            </a:pPr>
            <a:r>
              <a:rPr lang="es-CL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Un paquete es una colección de funciones, datos y documentación que permite extender las capacidades de R base.</a:t>
            </a:r>
          </a:p>
          <a:p>
            <a:pPr marL="285750" indent="-285750" algn="just">
              <a:lnSpc>
                <a:spcPct val="110000"/>
              </a:lnSpc>
              <a:spcBef>
                <a:spcPts val="0"/>
              </a:spcBef>
              <a:buSzPts val="2000"/>
            </a:pPr>
            <a:r>
              <a:rPr lang="es-CL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Normalmente los cargamos al inicio del script porque nos habilitan para usar las funciones a lo largo del código.  </a:t>
            </a:r>
          </a:p>
          <a:p>
            <a:pPr marL="285750" indent="-285750" algn="just">
              <a:lnSpc>
                <a:spcPct val="110000"/>
              </a:lnSpc>
              <a:spcBef>
                <a:spcPts val="0"/>
              </a:spcBef>
              <a:buSzPts val="2000"/>
            </a:pPr>
            <a:r>
              <a:rPr lang="es-CL" sz="2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Install.packages</a:t>
            </a:r>
            <a:r>
              <a:rPr lang="es-CL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(ggplot2)</a:t>
            </a:r>
          </a:p>
          <a:p>
            <a:pPr marL="285750" indent="-285750" algn="just">
              <a:lnSpc>
                <a:spcPct val="90000"/>
              </a:lnSpc>
              <a:spcBef>
                <a:spcPts val="0"/>
              </a:spcBef>
              <a:buSzPts val="2000"/>
            </a:pPr>
            <a:r>
              <a:rPr lang="es-CL" sz="2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library</a:t>
            </a:r>
            <a:r>
              <a:rPr lang="es-CL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(datos)</a:t>
            </a:r>
          </a:p>
        </p:txBody>
      </p:sp>
      <p:pic>
        <p:nvPicPr>
          <p:cNvPr id="5" name="Imagen 4" descr="R - function not found - &quot;could not find function &quot;...&quot; - General - Posit  Community">
            <a:extLst>
              <a:ext uri="{FF2B5EF4-FFF2-40B4-BE49-F238E27FC236}">
                <a16:creationId xmlns:a16="http://schemas.microsoft.com/office/drawing/2014/main" id="{037D0630-E875-9DE6-12B4-992F04EE4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761" y="2078450"/>
            <a:ext cx="5054423" cy="29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886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FA0BA-DEB7-82F9-53D8-38D47BFAC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9503"/>
            <a:ext cx="10515600" cy="1325563"/>
          </a:xfrm>
        </p:spPr>
        <p:txBody>
          <a:bodyPr/>
          <a:lstStyle/>
          <a:p>
            <a:r>
              <a:rPr lang="es-CL" sz="3200" b="1" dirty="0">
                <a:solidFill>
                  <a:srgbClr val="0070C0"/>
                </a:solidFill>
              </a:rPr>
              <a:t>Ejemplos de paquetes: </a:t>
            </a:r>
            <a:r>
              <a:rPr lang="es-CL" sz="3200" b="1" dirty="0" err="1">
                <a:solidFill>
                  <a:srgbClr val="0070C0"/>
                </a:solidFill>
              </a:rPr>
              <a:t>tidyverse</a:t>
            </a:r>
            <a:endParaRPr lang="es-CL" sz="3200" b="1" dirty="0">
              <a:solidFill>
                <a:srgbClr val="0070C0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0D6BFD-1705-B2C6-6DF7-AEE70B3C2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just"/>
            <a:r>
              <a:rPr lang="es-E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Arial"/>
              </a:rPr>
              <a:t>El </a:t>
            </a:r>
            <a:r>
              <a:rPr lang="es-ES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Arial"/>
              </a:rPr>
              <a:t>Tidyverse</a:t>
            </a:r>
            <a:r>
              <a:rPr lang="es-E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Arial"/>
              </a:rPr>
              <a:t> es una colección de paquetes de R diseñados específicamente para la ciencia de datos que comparten una misma filosofía, gramática y estructura</a:t>
            </a:r>
            <a:r>
              <a:rPr lang="es-ES" sz="1600" dirty="0"/>
              <a:t>.</a:t>
            </a:r>
          </a:p>
          <a:p>
            <a:pPr algn="just"/>
            <a:r>
              <a:rPr lang="es-E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ggplot2: Para la visualización de datos basada en la gramática de gráficos. </a:t>
            </a:r>
          </a:p>
          <a:p>
            <a:pPr algn="just"/>
            <a:r>
              <a:rPr lang="es-ES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dplyr</a:t>
            </a:r>
            <a:r>
              <a:rPr lang="es-E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Para la manipulación y transformación eficiente de datos. </a:t>
            </a:r>
          </a:p>
          <a:p>
            <a:pPr algn="just"/>
            <a:r>
              <a:rPr lang="es-ES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tidyr</a:t>
            </a:r>
            <a:r>
              <a:rPr lang="es-E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Para organizar y limpiar datos (crear </a:t>
            </a:r>
            <a:r>
              <a:rPr lang="es-ES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tidy</a:t>
            </a:r>
            <a:r>
              <a:rPr lang="es-E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data).</a:t>
            </a:r>
          </a:p>
          <a:p>
            <a:pPr algn="just"/>
            <a:r>
              <a:rPr lang="es-ES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readr</a:t>
            </a:r>
            <a:r>
              <a:rPr lang="es-E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Para importar archivos tabulares como CSV o TSV. </a:t>
            </a:r>
          </a:p>
          <a:p>
            <a:pPr algn="just"/>
            <a:r>
              <a:rPr lang="es-ES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purrr</a:t>
            </a:r>
            <a:r>
              <a:rPr lang="es-E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Para herramientas de programación funcional. </a:t>
            </a:r>
          </a:p>
          <a:p>
            <a:pPr algn="just"/>
            <a:r>
              <a:rPr lang="es-ES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tibble</a:t>
            </a:r>
            <a:r>
              <a:rPr lang="es-E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Una versión moderna y mejorada de los marcos de datos (data </a:t>
            </a:r>
            <a:r>
              <a:rPr lang="es-ES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frames</a:t>
            </a:r>
            <a:r>
              <a:rPr lang="es-E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). </a:t>
            </a:r>
          </a:p>
          <a:p>
            <a:pPr algn="just"/>
            <a:r>
              <a:rPr lang="es-ES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stringr</a:t>
            </a:r>
            <a:r>
              <a:rPr lang="es-E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Para la manipulación de textos (</a:t>
            </a:r>
            <a:r>
              <a:rPr lang="es-ES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strings</a:t>
            </a:r>
            <a:r>
              <a:rPr lang="es-E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). </a:t>
            </a:r>
          </a:p>
        </p:txBody>
      </p:sp>
      <p:pic>
        <p:nvPicPr>
          <p:cNvPr id="6" name="Imagen 5" descr="RPubs - Tidyverse">
            <a:extLst>
              <a:ext uri="{FF2B5EF4-FFF2-40B4-BE49-F238E27FC236}">
                <a16:creationId xmlns:a16="http://schemas.microsoft.com/office/drawing/2014/main" id="{5CD3580B-E24B-887A-27E4-2138365B5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153" y="1907782"/>
            <a:ext cx="497205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391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E3BC9-9455-55E3-8A02-AF26B7889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8E493C-280D-53EF-1CC0-FCDDCD01E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9503"/>
            <a:ext cx="10515600" cy="1325563"/>
          </a:xfrm>
        </p:spPr>
        <p:txBody>
          <a:bodyPr/>
          <a:lstStyle/>
          <a:p>
            <a:r>
              <a:rPr lang="es-CL" sz="3200" b="1" dirty="0">
                <a:solidFill>
                  <a:srgbClr val="0070C0"/>
                </a:solidFill>
              </a:rPr>
              <a:t>Ejemplos de paquetes: </a:t>
            </a:r>
            <a:r>
              <a:rPr lang="es-CL" sz="3200" b="1" dirty="0" err="1">
                <a:solidFill>
                  <a:srgbClr val="0070C0"/>
                </a:solidFill>
              </a:rPr>
              <a:t>markdown</a:t>
            </a:r>
            <a:endParaRPr lang="es-CL" sz="3200" b="1" dirty="0">
              <a:solidFill>
                <a:srgbClr val="0070C0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D59405-42FF-08C2-64CB-9A0BFE96A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just"/>
            <a:r>
              <a:rPr lang="es-CL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RMARKDOWN es un </a:t>
            </a:r>
            <a:r>
              <a:rPr lang="es-CL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framework</a:t>
            </a:r>
            <a:r>
              <a:rPr lang="es-CL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que nos permite no salir de R para comunicar nuestros datos, que combina código, resultados y texto. </a:t>
            </a:r>
          </a:p>
        </p:txBody>
      </p:sp>
      <p:pic>
        <p:nvPicPr>
          <p:cNvPr id="4" name="Imagen 3" descr="RPubs - Introducción a R Markdown">
            <a:extLst>
              <a:ext uri="{FF2B5EF4-FFF2-40B4-BE49-F238E27FC236}">
                <a16:creationId xmlns:a16="http://schemas.microsoft.com/office/drawing/2014/main" id="{B7D0EA05-64E3-C12C-662C-FD7168EB4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894" y="3465231"/>
            <a:ext cx="2341285" cy="2641592"/>
          </a:xfrm>
          <a:prstGeom prst="rect">
            <a:avLst/>
          </a:prstGeom>
        </p:spPr>
      </p:pic>
      <p:pic>
        <p:nvPicPr>
          <p:cNvPr id="5" name="Imagen 4" descr="Introduction to R Markdown">
            <a:extLst>
              <a:ext uri="{FF2B5EF4-FFF2-40B4-BE49-F238E27FC236}">
                <a16:creationId xmlns:a16="http://schemas.microsoft.com/office/drawing/2014/main" id="{F2C057A2-BF51-0939-0A4D-1543B81B4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2" y="1475303"/>
            <a:ext cx="5643998" cy="496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133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F2F8F185-8591-CA25-0B0F-DE417B44D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Fuegos artificiales en el cielo&#10;&#10;El contenido generado por IA puede ser incorrecto.">
            <a:extLst>
              <a:ext uri="{FF2B5EF4-FFF2-40B4-BE49-F238E27FC236}">
                <a16:creationId xmlns:a16="http://schemas.microsoft.com/office/drawing/2014/main" id="{C87DF5B5-5D03-34F0-2ECF-EE4452051F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0228" b="1022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91899C11-B243-0E2B-62CE-5C21BD3ABF29}"/>
              </a:ext>
            </a:extLst>
          </p:cNvPr>
          <p:cNvSpPr/>
          <p:nvPr/>
        </p:nvSpPr>
        <p:spPr>
          <a:xfrm>
            <a:off x="-1" y="4334776"/>
            <a:ext cx="7200000" cy="1015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CL" sz="3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Proyectos y script</a:t>
            </a:r>
            <a:endParaRPr lang="es-CL" sz="36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019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334D7-F79A-ED94-1078-A7EF0084C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b="1" dirty="0">
                <a:solidFill>
                  <a:srgbClr val="0070C0"/>
                </a:solidFill>
              </a:rPr>
              <a:t>Proyectos</a:t>
            </a:r>
            <a:endParaRPr lang="en-001" sz="32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B0B8C-E2F8-4925-8BE9-68B9ADB9A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pPr algn="just"/>
            <a:r>
              <a:rPr lang="es-E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 trabaja con distintos tipos de archivos asociados al ambiente (donde se encuentran los objetos) (.</a:t>
            </a:r>
            <a:r>
              <a:rPr lang="es-ES" sz="2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Rdata</a:t>
            </a:r>
            <a:r>
              <a:rPr lang="es-E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), el proyecto (.</a:t>
            </a:r>
            <a:r>
              <a:rPr lang="es-ES" sz="2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Rproj</a:t>
            </a:r>
            <a:r>
              <a:rPr lang="es-E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 y el historial de ejecución (</a:t>
            </a:r>
            <a:r>
              <a:rPr lang="es-ES" sz="2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R.history</a:t>
            </a:r>
            <a:r>
              <a:rPr lang="es-E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).</a:t>
            </a:r>
          </a:p>
          <a:p>
            <a:pPr algn="just"/>
            <a:r>
              <a:rPr lang="es-E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Los proyectos permiten organizar las carpetas y archivos en un entorno </a:t>
            </a:r>
          </a:p>
          <a:p>
            <a:pPr marL="0" indent="0">
              <a:buNone/>
            </a:pPr>
            <a:endParaRPr lang="es-ES" sz="2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00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45F92E-6C91-4D50-08B6-AF292F026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298" y="1690688"/>
            <a:ext cx="5393695" cy="418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570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45474-90FB-8C9C-D7FC-14E97620F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b="1" dirty="0">
                <a:solidFill>
                  <a:srgbClr val="0070C0"/>
                </a:solidFill>
              </a:rPr>
              <a:t>Proyectos en R</a:t>
            </a:r>
            <a:endParaRPr lang="en-001" sz="3200" b="1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DD9545-436F-F179-2E67-5891D6D0D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12" y="1483263"/>
            <a:ext cx="3390491" cy="24217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85249B-70D4-84DA-372D-DE6011558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24695"/>
            <a:ext cx="738753" cy="3821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542CE6-191C-8B52-A3AF-A349AAA83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962" y="1520993"/>
            <a:ext cx="3296016" cy="234631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3B60A2F-9635-EC57-0F8C-9F6EC4FDC071}"/>
              </a:ext>
            </a:extLst>
          </p:cNvPr>
          <p:cNvCxnSpPr>
            <a:cxnSpLocks/>
          </p:cNvCxnSpPr>
          <p:nvPr/>
        </p:nvCxnSpPr>
        <p:spPr>
          <a:xfrm flipV="1">
            <a:off x="1670180" y="2606808"/>
            <a:ext cx="447869" cy="990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A8E8950-A1E8-EE02-92BC-03505BCFEFF5}"/>
              </a:ext>
            </a:extLst>
          </p:cNvPr>
          <p:cNvCxnSpPr>
            <a:cxnSpLocks/>
          </p:cNvCxnSpPr>
          <p:nvPr/>
        </p:nvCxnSpPr>
        <p:spPr>
          <a:xfrm flipV="1">
            <a:off x="5779648" y="2507738"/>
            <a:ext cx="447869" cy="990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AB601CC-36F4-93C7-E10D-7BE54AD47F5A}"/>
              </a:ext>
            </a:extLst>
          </p:cNvPr>
          <p:cNvCxnSpPr>
            <a:cxnSpLocks/>
          </p:cNvCxnSpPr>
          <p:nvPr/>
        </p:nvCxnSpPr>
        <p:spPr>
          <a:xfrm flipH="1">
            <a:off x="6522734" y="4292082"/>
            <a:ext cx="1474236" cy="84306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059DA06-E383-71B3-09C8-1134DF2FDD33}"/>
              </a:ext>
            </a:extLst>
          </p:cNvPr>
          <p:cNvSpPr txBox="1"/>
          <p:nvPr/>
        </p:nvSpPr>
        <p:spPr>
          <a:xfrm>
            <a:off x="8309954" y="758994"/>
            <a:ext cx="2670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Crear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un nuevo Directorio o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utilizar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uno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existente</a:t>
            </a:r>
            <a:endParaRPr lang="en-00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C0909C-F7BE-B640-548D-B68C2728A71C}"/>
              </a:ext>
            </a:extLst>
          </p:cNvPr>
          <p:cNvSpPr txBox="1"/>
          <p:nvPr/>
        </p:nvSpPr>
        <p:spPr>
          <a:xfrm>
            <a:off x="8829759" y="4099848"/>
            <a:ext cx="2670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Crea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el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Proyecto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un Directorio que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ya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existe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 Hay que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indicarle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  <a:endParaRPr lang="en-00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412451-A0AA-B36F-F9F4-8285A7B89B64}"/>
              </a:ext>
            </a:extLst>
          </p:cNvPr>
          <p:cNvSpPr txBox="1"/>
          <p:nvPr/>
        </p:nvSpPr>
        <p:spPr>
          <a:xfrm>
            <a:off x="6311191" y="5735815"/>
            <a:ext cx="2670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¡Mirar bien la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secci</a:t>
            </a:r>
            <a:r>
              <a:rPr lang="es-E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ón</a:t>
            </a:r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de los archivos!</a:t>
            </a:r>
            <a:endParaRPr lang="en-00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9CBF3C3-B28F-1EA8-D0DE-658C0BE08A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37" y="3942691"/>
            <a:ext cx="4836711" cy="286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777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BF3C5A-29E7-5B8A-8FFF-EA3B64D59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538" y="959168"/>
            <a:ext cx="4953691" cy="4610743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EDE21BD-9211-1C5A-5F53-42E6E3880B29}"/>
              </a:ext>
            </a:extLst>
          </p:cNvPr>
          <p:cNvSpPr/>
          <p:nvPr/>
        </p:nvSpPr>
        <p:spPr>
          <a:xfrm>
            <a:off x="6672072" y="1042416"/>
            <a:ext cx="859536" cy="64008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F4111B4-336B-60C8-DDEF-4C1611A81881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196583" y="1737360"/>
            <a:ext cx="579121" cy="3017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C05A72-6B81-D717-D130-BAE3E6AE303F}"/>
              </a:ext>
            </a:extLst>
          </p:cNvPr>
          <p:cNvSpPr txBox="1"/>
          <p:nvPr/>
        </p:nvSpPr>
        <p:spPr>
          <a:xfrm>
            <a:off x="3526535" y="1577447"/>
            <a:ext cx="2670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Podemos crear carpetas para organizar nuestro proyecto</a:t>
            </a:r>
            <a:endParaRPr lang="en-00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B8A9A26-EB3D-EDF6-BB31-E8B3DB924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001" y="2984707"/>
            <a:ext cx="4906060" cy="4591691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E37F3136-C3E6-0D0B-F266-068D730E8F9E}"/>
              </a:ext>
            </a:extLst>
          </p:cNvPr>
          <p:cNvSpPr/>
          <p:nvPr/>
        </p:nvSpPr>
        <p:spPr>
          <a:xfrm>
            <a:off x="1078992" y="2743200"/>
            <a:ext cx="3130296" cy="291310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074F2E-1B2B-6400-F451-A6BCAC9AD34B}"/>
              </a:ext>
            </a:extLst>
          </p:cNvPr>
          <p:cNvSpPr txBox="1"/>
          <p:nvPr/>
        </p:nvSpPr>
        <p:spPr>
          <a:xfrm>
            <a:off x="4268968" y="4923581"/>
            <a:ext cx="26700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Esta es la forma en la que organizo normalmente mis proyectos… ¡Pero tú lo puedes organizar como quieras!</a:t>
            </a:r>
            <a:endParaRPr lang="en-00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3AFF19-2EAA-7C27-D9C5-F744DDA886DB}"/>
              </a:ext>
            </a:extLst>
          </p:cNvPr>
          <p:cNvSpPr txBox="1">
            <a:spLocks/>
          </p:cNvSpPr>
          <p:nvPr/>
        </p:nvSpPr>
        <p:spPr>
          <a:xfrm>
            <a:off x="838200" y="21690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3200" b="1" dirty="0">
                <a:solidFill>
                  <a:srgbClr val="0070C0"/>
                </a:solidFill>
              </a:rPr>
              <a:t>Proyectos</a:t>
            </a:r>
            <a:endParaRPr lang="en-001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98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/>
      <p:bldP spid="23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E3732-0EB7-F9B1-C9B1-2264742F1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pPr algn="just"/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Podemos incorporar en la carpeta “Scripts” todos nuestros códigos! Agregando un nuevo “</a:t>
            </a:r>
            <a:r>
              <a:rPr lang="es-E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blank</a:t>
            </a:r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file” a la carpeta.</a:t>
            </a:r>
          </a:p>
          <a:p>
            <a:pPr algn="just"/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También hay otros archivos que podemos utilizar (</a:t>
            </a:r>
            <a:r>
              <a:rPr lang="es-E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Markdown</a:t>
            </a:r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y </a:t>
            </a:r>
            <a:r>
              <a:rPr lang="es-E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Quatro</a:t>
            </a:r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pero eso lo veremos más adelante…)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B7A811-96A9-BDDB-089A-D6AAF55C2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026" y="1676869"/>
            <a:ext cx="4906060" cy="464884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EC5B0DB-9213-83EA-DF0E-75DB76361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es-ES" sz="3200" b="1" dirty="0">
                <a:solidFill>
                  <a:srgbClr val="0070C0"/>
                </a:solidFill>
              </a:rPr>
              <a:t>Proyectos</a:t>
            </a:r>
            <a:endParaRPr lang="en-001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183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CA0DA-8E87-8BE4-3E29-823E0BDB8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b="1" dirty="0">
                <a:solidFill>
                  <a:srgbClr val="0070C0"/>
                </a:solidFill>
              </a:rPr>
              <a:t>Proyectos en R</a:t>
            </a:r>
            <a:endParaRPr lang="en-001" sz="32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68190-3213-4AEC-DF77-A8C7D9660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algn="just"/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Cuando estamos trabajando en un proyecto, también podemos definir nuestro directorio de trabajo (los archivos que creamos se guardan automáticamente en ese directorio).</a:t>
            </a:r>
            <a:endParaRPr lang="en-00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ECA24D-0868-2427-D35F-8E61AB6F2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1437" y="1476628"/>
            <a:ext cx="4944165" cy="456311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0AFDDB3-B6E2-B257-37CB-1B4D496823C6}"/>
              </a:ext>
            </a:extLst>
          </p:cNvPr>
          <p:cNvCxnSpPr>
            <a:cxnSpLocks/>
          </p:cNvCxnSpPr>
          <p:nvPr/>
        </p:nvCxnSpPr>
        <p:spPr>
          <a:xfrm flipH="1" flipV="1">
            <a:off x="3361169" y="5721751"/>
            <a:ext cx="697647" cy="11921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37BE148-59CD-265B-F0B2-D649B4D9A42B}"/>
              </a:ext>
            </a:extLst>
          </p:cNvPr>
          <p:cNvSpPr txBox="1"/>
          <p:nvPr/>
        </p:nvSpPr>
        <p:spPr>
          <a:xfrm>
            <a:off x="4215540" y="5240798"/>
            <a:ext cx="26700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También podemos escribir el código para obtener el directorio que trabajaremos (</a:t>
            </a:r>
            <a:r>
              <a:rPr lang="es-E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getwd</a:t>
            </a:r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 y definirlo (</a:t>
            </a:r>
            <a:r>
              <a:rPr lang="es-E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setwd</a:t>
            </a:r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</a:t>
            </a:r>
            <a:endParaRPr lang="en-00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00E6D2-D866-9007-8B6D-3EF8D88AB913}"/>
              </a:ext>
            </a:extLst>
          </p:cNvPr>
          <p:cNvSpPr txBox="1"/>
          <p:nvPr/>
        </p:nvSpPr>
        <p:spPr>
          <a:xfrm>
            <a:off x="1017329" y="5247336"/>
            <a:ext cx="3816624" cy="811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getwd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setwd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"02_Datos"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455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6F6073EE-177B-6B61-6303-398F63033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Fuegos artificiales en el cielo&#10;&#10;El contenido generado por IA puede ser incorrecto.">
            <a:extLst>
              <a:ext uri="{FF2B5EF4-FFF2-40B4-BE49-F238E27FC236}">
                <a16:creationId xmlns:a16="http://schemas.microsoft.com/office/drawing/2014/main" id="{AC83022F-1F37-5E61-7B6B-BE3B88E771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0228" b="1022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914F0DA3-4ADE-FC1D-46A3-7BCB42515EE6}"/>
              </a:ext>
            </a:extLst>
          </p:cNvPr>
          <p:cNvSpPr/>
          <p:nvPr/>
        </p:nvSpPr>
        <p:spPr>
          <a:xfrm>
            <a:off x="-1" y="4334776"/>
            <a:ext cx="7200000" cy="1015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CL" sz="3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Sintaxis básica en R</a:t>
            </a:r>
            <a:endParaRPr lang="es-CL" sz="36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91958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00CAF-A34E-9310-CEC6-2FD5EC9B5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buClr>
                <a:srgbClr val="000000"/>
              </a:buClr>
            </a:pPr>
            <a:r>
              <a:rPr lang="es-CL" sz="3200" b="1" dirty="0">
                <a:solidFill>
                  <a:srgbClr val="0070C0"/>
                </a:solidFill>
              </a:rPr>
              <a:t>Operadores básicos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C65EF-12AF-85E1-E45C-D563A25D1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 R Studio podemos hacer las operaciones matemáticas básicas y también podemos guardar esas operaciones como objetos.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7F9F57-32EA-83BB-EB9D-00E0FD33FC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824"/>
          <a:stretch/>
        </p:blipFill>
        <p:spPr>
          <a:xfrm>
            <a:off x="1853971" y="3001029"/>
            <a:ext cx="8484058" cy="20005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DC9064-CC74-7412-5778-E1418697F342}"/>
              </a:ext>
            </a:extLst>
          </p:cNvPr>
          <p:cNvSpPr txBox="1"/>
          <p:nvPr/>
        </p:nvSpPr>
        <p:spPr>
          <a:xfrm>
            <a:off x="1853971" y="513649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¿Cómo lo asignamos a un objeto?</a:t>
            </a:r>
          </a:p>
        </p:txBody>
      </p:sp>
    </p:spTree>
    <p:extLst>
      <p:ext uri="{BB962C8B-B14F-4D97-AF65-F5344CB8AC3E}">
        <p14:creationId xmlns:p14="http://schemas.microsoft.com/office/powerpoint/2010/main" val="3726991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A3700-3495-5E39-8D31-73B651801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631" y="347316"/>
            <a:ext cx="10515600" cy="1325563"/>
          </a:xfrm>
        </p:spPr>
        <p:txBody>
          <a:bodyPr/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es-ES" sz="3200" b="1" dirty="0">
                <a:solidFill>
                  <a:srgbClr val="0070C0"/>
                </a:solidFill>
                <a:sym typeface="Arial"/>
              </a:rPr>
              <a:t>Sintaxis básica en R</a:t>
            </a:r>
            <a:endParaRPr lang="en-GB" sz="3200" b="1" dirty="0">
              <a:solidFill>
                <a:srgbClr val="0070C0"/>
              </a:solidFill>
              <a:sym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B5C92-3A4A-0089-A350-63B04D3BD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92584" cy="4351338"/>
          </a:xfrm>
        </p:spPr>
        <p:txBody>
          <a:bodyPr>
            <a:normAutofit/>
          </a:bodyPr>
          <a:lstStyle/>
          <a:p>
            <a:r>
              <a:rPr lang="es-E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 es un lenguaje de programación orientado a objetos. La mayor parte de las funciones en R buscan la transformación o creación de un objeto (ej. Tabla, lista, gráfico, matriz, </a:t>
            </a:r>
            <a:r>
              <a:rPr lang="es-ES" sz="20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etc</a:t>
            </a:r>
            <a:r>
              <a:rPr lang="es-E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…)</a:t>
            </a:r>
          </a:p>
          <a:p>
            <a:pPr marL="114300" indent="0">
              <a:buNone/>
            </a:pPr>
            <a:endParaRPr lang="es-ES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14300" indent="0">
              <a:buNone/>
            </a:pPr>
            <a:endParaRPr lang="es-ES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14300" indent="0">
              <a:buNone/>
            </a:pPr>
            <a:endParaRPr lang="es-ES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s-E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 R base, se representa por “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&lt;-”</a:t>
            </a:r>
          </a:p>
          <a:p>
            <a:pPr marL="571500" lvl="1" indent="0">
              <a:buNone/>
            </a:pPr>
            <a:endParaRPr lang="en-US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71500" lvl="1" indent="0">
              <a:buNone/>
            </a:pPr>
            <a:r>
              <a:rPr lang="en-US" sz="20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Ejemplo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n-US" sz="20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mitexto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&lt;- “Hola </a:t>
            </a:r>
            <a:r>
              <a:rPr lang="en-US" sz="20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mundo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”</a:t>
            </a:r>
            <a:endParaRPr lang="en-GB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8ACF0B-965E-2953-73A2-74CD6AC0883E}"/>
              </a:ext>
            </a:extLst>
          </p:cNvPr>
          <p:cNvSpPr txBox="1"/>
          <p:nvPr/>
        </p:nvSpPr>
        <p:spPr>
          <a:xfrm>
            <a:off x="5453977" y="4976634"/>
            <a:ext cx="2980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Al igual que en otros lenguajes de programación, las comillas representan texto (</a:t>
            </a:r>
            <a:r>
              <a:rPr lang="es-ES" dirty="0" err="1">
                <a:solidFill>
                  <a:srgbClr val="FF0000"/>
                </a:solidFill>
              </a:rPr>
              <a:t>strings</a:t>
            </a:r>
            <a:r>
              <a:rPr lang="es-ES" dirty="0">
                <a:solidFill>
                  <a:srgbClr val="FF0000"/>
                </a:solidFill>
              </a:rPr>
              <a:t>)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42B139-1591-0E3C-AEAC-72825AF0B7A3}"/>
              </a:ext>
            </a:extLst>
          </p:cNvPr>
          <p:cNvSpPr txBox="1"/>
          <p:nvPr/>
        </p:nvSpPr>
        <p:spPr>
          <a:xfrm>
            <a:off x="5118779" y="4344457"/>
            <a:ext cx="2980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Este símbolo se conoce como “operador de asignación”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4" name="Imagen 3" descr="R? LENGUAJE DE PROGRAMACIÓN.">
            <a:extLst>
              <a:ext uri="{FF2B5EF4-FFF2-40B4-BE49-F238E27FC236}">
                <a16:creationId xmlns:a16="http://schemas.microsoft.com/office/drawing/2014/main" id="{6024F5A9-9CDA-B561-9FC8-6DDC2CA82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940" y="347316"/>
            <a:ext cx="4800624" cy="384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7983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Capítulo 4 Uso básico de RStudio | RStudio para Estadística Descriptiva en  Ciencias Sociales">
            <a:extLst>
              <a:ext uri="{FF2B5EF4-FFF2-40B4-BE49-F238E27FC236}">
                <a16:creationId xmlns:a16="http://schemas.microsoft.com/office/drawing/2014/main" id="{44E92AAA-0643-D2B6-9222-176FCF9AB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962" y="207819"/>
            <a:ext cx="7187246" cy="3825470"/>
          </a:xfrm>
          <a:prstGeom prst="rect">
            <a:avLst/>
          </a:prstGeom>
        </p:spPr>
      </p:pic>
      <p:pic>
        <p:nvPicPr>
          <p:cNvPr id="6" name="Imagen 5" descr="R Read CSV file (with Examples) - Learn R">
            <a:extLst>
              <a:ext uri="{FF2B5EF4-FFF2-40B4-BE49-F238E27FC236}">
                <a16:creationId xmlns:a16="http://schemas.microsoft.com/office/drawing/2014/main" id="{4FD02095-FD4B-AF1E-D222-9FA05DDEA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760" y="4311679"/>
            <a:ext cx="2752381" cy="21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8993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7877B-4D35-5A62-2D4C-250435DDF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buClr>
                <a:srgbClr val="000000"/>
              </a:buClr>
            </a:pPr>
            <a:r>
              <a:rPr lang="en-US" sz="3200" b="1" dirty="0" err="1">
                <a:solidFill>
                  <a:srgbClr val="0070C0"/>
                </a:solidFill>
              </a:rPr>
              <a:t>Objetos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 err="1">
                <a:solidFill>
                  <a:srgbClr val="0070C0"/>
                </a:solidFill>
              </a:rPr>
              <a:t>en</a:t>
            </a:r>
            <a:r>
              <a:rPr lang="en-US" sz="3200" b="1" dirty="0">
                <a:solidFill>
                  <a:srgbClr val="0070C0"/>
                </a:solidFill>
              </a:rPr>
              <a:t> R</a:t>
            </a:r>
            <a:endParaRPr lang="en-001" sz="32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C00F6-9FCD-9772-97A6-AB3FECC1E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380" y="1553776"/>
            <a:ext cx="5544065" cy="4351338"/>
          </a:xfrm>
        </p:spPr>
        <p:txBody>
          <a:bodyPr/>
          <a:lstStyle/>
          <a:p>
            <a:r>
              <a:rPr lang="es-C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Los datos (objetos) pueden tener distintas características dependiendo del tipo de dato.</a:t>
            </a:r>
          </a:p>
          <a:p>
            <a:r>
              <a:rPr lang="es-C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Los podemos “agrupar” utilizando la función </a:t>
            </a:r>
            <a:r>
              <a:rPr lang="es-CL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</a:t>
            </a:r>
            <a:r>
              <a:rPr lang="es-C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ombinar </a:t>
            </a:r>
            <a:r>
              <a:rPr lang="es-CL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c()</a:t>
            </a:r>
          </a:p>
          <a:p>
            <a:pPr lvl="1"/>
            <a:r>
              <a:rPr lang="es-C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¿Qué tipo de datos podemos almacenar?</a:t>
            </a:r>
          </a:p>
          <a:p>
            <a:pPr lvl="1"/>
            <a:endParaRPr lang="es-CL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s-C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Los conjuntos de datos que son del mismo tipo, se denominan vectores (o también conocidos como variables). </a:t>
            </a:r>
          </a:p>
          <a:p>
            <a:pPr lvl="1"/>
            <a:r>
              <a:rPr lang="es-C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Podemos pensarlos como Columnas en un Excel.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4BB729-B6B0-C028-4959-D6DC975CD1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307"/>
          <a:stretch>
            <a:fillRect/>
          </a:stretch>
        </p:blipFill>
        <p:spPr>
          <a:xfrm>
            <a:off x="540081" y="5581256"/>
            <a:ext cx="5304665" cy="895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DE69FB-99F6-CDDC-644D-10F43F0E1B47}"/>
              </a:ext>
            </a:extLst>
          </p:cNvPr>
          <p:cNvSpPr txBox="1"/>
          <p:nvPr/>
        </p:nvSpPr>
        <p:spPr>
          <a:xfrm>
            <a:off x="7666182" y="6238959"/>
            <a:ext cx="429490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https://bookdown.org/gboccardo/manual-ED-UCH/uso-basico-de-rstudio.html#manejo-basico-de-la-sintaxis-de-r-creacion-de-objetos-inclusion-de-anotaciones-y-definicion-de-secciones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E7D7009-FB3F-B27E-4BB2-59B1FEC8F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6182" y="1587849"/>
            <a:ext cx="2857647" cy="74933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5352C90-DA85-297A-F022-BF6B36511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6182" y="2701491"/>
            <a:ext cx="1733639" cy="97795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D816EA7-5687-FC1B-D4F0-5BAC34DCB7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6182" y="3956810"/>
            <a:ext cx="1943200" cy="81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933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9AA91-E597-B92D-74D9-79CA13A30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Bases de datos en R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FC9A57-27CC-100E-28B9-7E5BA1DDA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283" y="2266788"/>
            <a:ext cx="8297433" cy="23244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5F817C-2C44-0F67-D290-67A67239894D}"/>
              </a:ext>
            </a:extLst>
          </p:cNvPr>
          <p:cNvSpPr txBox="1"/>
          <p:nvPr/>
        </p:nvSpPr>
        <p:spPr>
          <a:xfrm>
            <a:off x="9144811" y="6348549"/>
            <a:ext cx="2367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https://r4ds.hadley.nz/data-tidy</a:t>
            </a:r>
          </a:p>
        </p:txBody>
      </p:sp>
    </p:spTree>
    <p:extLst>
      <p:ext uri="{BB962C8B-B14F-4D97-AF65-F5344CB8AC3E}">
        <p14:creationId xmlns:p14="http://schemas.microsoft.com/office/powerpoint/2010/main" val="2308792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2FB5A-8E4B-9B83-9D19-48213F1F0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66C46-D108-4BCF-696C-E6FFD400E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631" y="347316"/>
            <a:ext cx="10515600" cy="1325563"/>
          </a:xfrm>
        </p:spPr>
        <p:txBody>
          <a:bodyPr/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es-ES" sz="3200" b="1" dirty="0">
                <a:solidFill>
                  <a:srgbClr val="0070C0"/>
                </a:solidFill>
                <a:sym typeface="Arial"/>
              </a:rPr>
              <a:t>Sintaxis básica en R</a:t>
            </a:r>
            <a:endParaRPr lang="en-GB" sz="3200" b="1" dirty="0">
              <a:solidFill>
                <a:srgbClr val="0070C0"/>
              </a:solidFill>
              <a:sym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DAA7D-F9CD-294C-BFA9-36E943D6B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92584" cy="4351338"/>
          </a:xfrm>
        </p:spPr>
        <p:txBody>
          <a:bodyPr>
            <a:normAutofit/>
          </a:bodyPr>
          <a:lstStyle/>
          <a:p>
            <a:r>
              <a:rPr lang="es-CL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La estructura general de la sintaxis de R es la siguiente:</a:t>
            </a:r>
          </a:p>
          <a:p>
            <a:pPr lvl="0"/>
            <a:r>
              <a:rPr lang="es-CL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El nombre de un objeto, que será el resultado de una función.</a:t>
            </a:r>
          </a:p>
          <a:p>
            <a:pPr lvl="0"/>
            <a:r>
              <a:rPr lang="es-CL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Una función que a su vez se ejecuta sobre un conjunto de datos.</a:t>
            </a:r>
          </a:p>
          <a:p>
            <a:pPr lvl="0"/>
            <a:r>
              <a:rPr lang="es-CL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Unos argumentos, instrucciones que especifican detalles que realiza la función.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EF4D1D3-3AFB-DC2C-22F6-1E2E43C02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310" y="1858250"/>
            <a:ext cx="5683892" cy="31415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2184B98-B1E9-861D-3419-D4A50C647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103" y="5185121"/>
            <a:ext cx="7036162" cy="139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7920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ABB4F-FF5C-90EC-B3A2-9055173B2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0CA69-2311-3163-28B6-AB118CBEC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631" y="347316"/>
            <a:ext cx="10515600" cy="1325563"/>
          </a:xfrm>
        </p:spPr>
        <p:txBody>
          <a:bodyPr/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es-ES" sz="3200" b="1" dirty="0">
                <a:solidFill>
                  <a:srgbClr val="0070C0"/>
                </a:solidFill>
                <a:sym typeface="Arial"/>
              </a:rPr>
              <a:t>Sintaxis básica en R: funciones</a:t>
            </a:r>
            <a:endParaRPr lang="en-GB" sz="3200" b="1" dirty="0">
              <a:solidFill>
                <a:srgbClr val="0070C0"/>
              </a:solidFill>
              <a:sym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EE6236C-0E7A-3637-E908-E27061FB269F}"/>
              </a:ext>
            </a:extLst>
          </p:cNvPr>
          <p:cNvSpPr txBox="1"/>
          <p:nvPr/>
        </p:nvSpPr>
        <p:spPr>
          <a:xfrm>
            <a:off x="795152" y="1483686"/>
            <a:ext cx="495052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Una función es un conjunto de operaciones creadas “ad hoc”, a la que asignamos un nombre, y que realiza operaciones y requiere argumentos para llevarlas a cabo. Cuando se llama una función se le pide a R que ejecute las instrucciones que contiene. </a:t>
            </a:r>
          </a:p>
          <a:p>
            <a:endParaRPr lang="es-ES" sz="1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s-ES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Por ejemplo:</a:t>
            </a:r>
          </a:p>
          <a:p>
            <a:r>
              <a:rPr lang="es-ES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mean()</a:t>
            </a:r>
          </a:p>
          <a:p>
            <a:r>
              <a:rPr lang="es-ES" sz="18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quantile</a:t>
            </a:r>
            <a:r>
              <a:rPr lang="es-ES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()</a:t>
            </a:r>
          </a:p>
          <a:p>
            <a:r>
              <a:rPr lang="es-ES" sz="18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summary</a:t>
            </a:r>
            <a:r>
              <a:rPr lang="es-ES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()</a:t>
            </a:r>
          </a:p>
          <a:p>
            <a:r>
              <a:rPr lang="es-ES" sz="18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density</a:t>
            </a:r>
            <a:r>
              <a:rPr lang="es-ES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()</a:t>
            </a:r>
          </a:p>
          <a:p>
            <a:r>
              <a:rPr lang="es-ES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c()</a:t>
            </a:r>
          </a:p>
          <a:p>
            <a:endParaRPr lang="es-ES" sz="1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s-ES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Idealmente, el nombre de una función informa lo que hace.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0C4F412-43E9-7638-B014-77D2FC94E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562" y="1408778"/>
            <a:ext cx="2286117" cy="74933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9BE623F-6430-6CD9-027F-456082579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5556" y="1380201"/>
            <a:ext cx="2286117" cy="80649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58CDD4D-75D1-27E3-04AF-799405B17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282" y="2780194"/>
            <a:ext cx="5383377" cy="295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19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6091D-E84E-BD69-2D83-2D01F94E9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</a:pPr>
            <a:r>
              <a:rPr lang="en-US" sz="32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La pipa </a:t>
            </a:r>
            <a:r>
              <a:rPr lang="en-US" sz="3200" b="1" dirty="0" err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32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endParaRPr lang="en-001" sz="3200" b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80AFF-B515-928A-8525-139D7F699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257800" cy="4474591"/>
          </a:xfrm>
        </p:spPr>
        <p:txBody>
          <a:bodyPr>
            <a:normAutofit/>
          </a:bodyPr>
          <a:lstStyle/>
          <a:p>
            <a:pPr marL="457200" indent="-342900" algn="just">
              <a:spcBef>
                <a:spcPts val="750"/>
              </a:spcBef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El </a:t>
            </a:r>
            <a:r>
              <a:rPr lang="en-US" sz="2400" dirty="0" err="1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indicador</a:t>
            </a:r>
            <a:r>
              <a:rPr lang="en-U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 de pipa (pipe) </a:t>
            </a:r>
            <a:r>
              <a:rPr lang="en-US" sz="2400" dirty="0" err="1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permite</a:t>
            </a:r>
            <a:r>
              <a:rPr lang="en-U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 “pasar</a:t>
            </a: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” un objeto a través de una función sin tener que repetir el nombre del objeto en el primer argumento de la función</a:t>
            </a:r>
          </a:p>
          <a:p>
            <a:pPr marL="457200" indent="-342900" algn="just">
              <a:spcBef>
                <a:spcPts val="750"/>
              </a:spcBef>
              <a:buClr>
                <a:schemeClr val="dk1"/>
              </a:buClr>
              <a:buSzPts val="1800"/>
              <a:buFont typeface="Arial"/>
              <a:buChar char="•"/>
            </a:pPr>
            <a:endParaRPr lang="es-ES" sz="2400" dirty="0">
              <a:solidFill>
                <a:schemeClr val="dk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alibri"/>
            </a:endParaRPr>
          </a:p>
          <a:p>
            <a:pPr marL="457200" indent="-342900" algn="just">
              <a:spcBef>
                <a:spcPts val="750"/>
              </a:spcBef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Este indicador estaba originalmente en el paquete “</a:t>
            </a:r>
            <a:r>
              <a:rPr lang="es-ES" sz="2400" dirty="0" err="1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magrittr</a:t>
            </a: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” (%&gt;%), pero desde R 4.1 viene de base en R (|&gt;)</a:t>
            </a:r>
            <a:endParaRPr lang="en-001" sz="2400" dirty="0">
              <a:solidFill>
                <a:schemeClr val="dk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1AAB2-8063-D1A9-7F4E-D60295459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601" y="2213375"/>
            <a:ext cx="3879917" cy="20420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76A8D0-11D6-8E7A-669B-9ED93150A3E5}"/>
              </a:ext>
            </a:extLst>
          </p:cNvPr>
          <p:cNvSpPr/>
          <p:nvPr/>
        </p:nvSpPr>
        <p:spPr>
          <a:xfrm>
            <a:off x="7365601" y="3715941"/>
            <a:ext cx="4077478" cy="5707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001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5D6E15-6C43-CF5D-DEB9-42789A86D3C8}"/>
              </a:ext>
            </a:extLst>
          </p:cNvPr>
          <p:cNvSpPr/>
          <p:nvPr/>
        </p:nvSpPr>
        <p:spPr>
          <a:xfrm>
            <a:off x="7365601" y="3330734"/>
            <a:ext cx="4077478" cy="3852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001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F33BA7A-3BA5-0359-AD01-6ACECB0D1DB8}"/>
              </a:ext>
            </a:extLst>
          </p:cNvPr>
          <p:cNvCxnSpPr>
            <a:cxnSpLocks/>
          </p:cNvCxnSpPr>
          <p:nvPr/>
        </p:nvCxnSpPr>
        <p:spPr>
          <a:xfrm flipV="1">
            <a:off x="9427464" y="4453128"/>
            <a:ext cx="0" cy="4647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20D161F-688F-072A-9A47-FDC5D53D6ED2}"/>
              </a:ext>
            </a:extLst>
          </p:cNvPr>
          <p:cNvSpPr txBox="1"/>
          <p:nvPr/>
        </p:nvSpPr>
        <p:spPr>
          <a:xfrm>
            <a:off x="8385944" y="5084380"/>
            <a:ext cx="2670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¡Estas funciones son equivalentes!</a:t>
            </a:r>
            <a:endParaRPr kumimoji="0" lang="en-001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E310E88-7965-E093-49A0-8EA0603C1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854" y="5274259"/>
            <a:ext cx="2133710" cy="132086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6D97A23-F384-9C03-44E0-FF73616B2D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4021" r="25201"/>
          <a:stretch>
            <a:fillRect/>
          </a:stretch>
        </p:blipFill>
        <p:spPr>
          <a:xfrm>
            <a:off x="3517503" y="5274260"/>
            <a:ext cx="2521100" cy="132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032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AC4DFC-7166-8994-E10D-8D5295DC8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</a:pPr>
            <a:r>
              <a:rPr lang="es-CL" sz="3200" b="1" kern="1200" dirty="0">
                <a:solidFill>
                  <a:srgbClr val="0070C0"/>
                </a:solidFill>
              </a:rPr>
              <a:t>Comentarios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32930A-C168-6802-433D-E9B56B2D9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 habitual que los códigos estén acompañados de comentarios. Es un trozo de código utilizado para explicar algo, que no se ejecuta, y que se inicia con un “hashtag”. Es conveniente su uso, dado que informa de qué o para qué se utiliza una función o argumento.</a:t>
            </a:r>
            <a:endParaRPr lang="es-CL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E4D2A17-266F-D457-2866-E72FC7488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104" y="4730976"/>
            <a:ext cx="8668195" cy="86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082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E7EB4-3FF8-4B4B-6F7A-9E76C82B9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90074-1E22-FED0-FA3C-7B0BD71B6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buClr>
                <a:srgbClr val="000000"/>
              </a:buClr>
            </a:pPr>
            <a:r>
              <a:rPr lang="es-ES" sz="3200" b="1" kern="1200" dirty="0">
                <a:solidFill>
                  <a:srgbClr val="0070C0"/>
                </a:solidFill>
              </a:rPr>
              <a:t>Creando tablas de datos</a:t>
            </a:r>
            <a:endParaRPr lang="en-001" sz="3200" b="1" kern="1200" dirty="0">
              <a:solidFill>
                <a:srgbClr val="0070C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84DC252-863F-E70E-5A97-0E9BED4094A5}"/>
              </a:ext>
            </a:extLst>
          </p:cNvPr>
          <p:cNvCxnSpPr/>
          <p:nvPr/>
        </p:nvCxnSpPr>
        <p:spPr>
          <a:xfrm flipH="1">
            <a:off x="4592855" y="2598313"/>
            <a:ext cx="2453951" cy="3918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8553A71-2ED4-4C5A-07AD-AA83356B738E}"/>
              </a:ext>
            </a:extLst>
          </p:cNvPr>
          <p:cNvSpPr txBox="1"/>
          <p:nvPr/>
        </p:nvSpPr>
        <p:spPr>
          <a:xfrm>
            <a:off x="7167934" y="2044004"/>
            <a:ext cx="2670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 a</a:t>
            </a:r>
            <a:r>
              <a:rPr lang="es-E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ñade</a:t>
            </a:r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una columna adicional en nuestro data </a:t>
            </a:r>
            <a:r>
              <a:rPr lang="es-E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frame</a:t>
            </a:r>
            <a:endParaRPr lang="en-00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A42D61-4B07-7809-EE2A-0D14D9605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091" y="2505669"/>
            <a:ext cx="2438740" cy="11622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F21963-8F1A-7A43-D9A7-D27F25D27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4565" y="446800"/>
            <a:ext cx="1733792" cy="1162212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4C1824B-B492-8EF2-9E64-F688E755578D}"/>
              </a:ext>
            </a:extLst>
          </p:cNvPr>
          <p:cNvCxnSpPr>
            <a:cxnSpLocks/>
          </p:cNvCxnSpPr>
          <p:nvPr/>
        </p:nvCxnSpPr>
        <p:spPr>
          <a:xfrm>
            <a:off x="10899648" y="1772363"/>
            <a:ext cx="0" cy="5345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84A9007-D11D-A011-7447-8079AF2EB590}"/>
              </a:ext>
            </a:extLst>
          </p:cNvPr>
          <p:cNvSpPr txBox="1"/>
          <p:nvPr/>
        </p:nvSpPr>
        <p:spPr>
          <a:xfrm>
            <a:off x="5304416" y="5194416"/>
            <a:ext cx="2670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Esta </a:t>
            </a:r>
            <a:r>
              <a:rPr lang="en-US" dirty="0" err="1"/>
              <a:t>funci</a:t>
            </a:r>
            <a:r>
              <a:rPr lang="es-ES" dirty="0" err="1"/>
              <a:t>ón</a:t>
            </a:r>
            <a:r>
              <a:rPr lang="es-ES" dirty="0"/>
              <a:t> también hace lo mismo </a:t>
            </a:r>
            <a:r>
              <a:rPr lang="es-ES" b="1" dirty="0"/>
              <a:t>(</a:t>
            </a:r>
            <a:r>
              <a:rPr lang="es-ES" b="1" dirty="0" err="1"/>
              <a:t>tidyverse</a:t>
            </a:r>
            <a:r>
              <a:rPr lang="es-ES" b="1" dirty="0"/>
              <a:t>)</a:t>
            </a:r>
            <a:endParaRPr lang="en-001" b="1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EF74737-1BE0-A12D-6CEE-1A3D8FF5BC19}"/>
              </a:ext>
            </a:extLst>
          </p:cNvPr>
          <p:cNvCxnSpPr>
            <a:cxnSpLocks/>
          </p:cNvCxnSpPr>
          <p:nvPr/>
        </p:nvCxnSpPr>
        <p:spPr>
          <a:xfrm flipH="1">
            <a:off x="4284594" y="5551973"/>
            <a:ext cx="1019822" cy="1041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9DAE3EC-0DA1-AE20-749A-32D0ECE7DD31}"/>
              </a:ext>
            </a:extLst>
          </p:cNvPr>
          <p:cNvCxnSpPr>
            <a:cxnSpLocks/>
          </p:cNvCxnSpPr>
          <p:nvPr/>
        </p:nvCxnSpPr>
        <p:spPr>
          <a:xfrm flipH="1">
            <a:off x="4763423" y="3867803"/>
            <a:ext cx="1876017" cy="1122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5671BD2-9B1C-87CE-2506-9A03BC686952}"/>
              </a:ext>
            </a:extLst>
          </p:cNvPr>
          <p:cNvSpPr txBox="1"/>
          <p:nvPr/>
        </p:nvSpPr>
        <p:spPr>
          <a:xfrm>
            <a:off x="6979425" y="3559532"/>
            <a:ext cx="2670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¡Esta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funci</a:t>
            </a:r>
            <a:r>
              <a:rPr lang="es-E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ón</a:t>
            </a:r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también sirve!</a:t>
            </a:r>
            <a:endParaRPr lang="en-00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7EF286C-2018-EDC6-3DD5-51A4ACEAADC2}"/>
              </a:ext>
            </a:extLst>
          </p:cNvPr>
          <p:cNvSpPr/>
          <p:nvPr/>
        </p:nvSpPr>
        <p:spPr>
          <a:xfrm>
            <a:off x="466531" y="4646645"/>
            <a:ext cx="7507933" cy="2043404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00B333-216B-8410-282D-B146A40F0FC0}"/>
              </a:ext>
            </a:extLst>
          </p:cNvPr>
          <p:cNvSpPr txBox="1"/>
          <p:nvPr/>
        </p:nvSpPr>
        <p:spPr>
          <a:xfrm>
            <a:off x="676843" y="1499377"/>
            <a:ext cx="6094473" cy="1011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personas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endParaRPr lang="es-MX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ingreso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150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700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endParaRPr lang="es-MX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edad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35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57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93C93C-23FE-9AF3-7150-34E0004F5065}"/>
              </a:ext>
            </a:extLst>
          </p:cNvPr>
          <p:cNvSpPr txBox="1"/>
          <p:nvPr/>
        </p:nvSpPr>
        <p:spPr>
          <a:xfrm>
            <a:off x="664378" y="2537704"/>
            <a:ext cx="6094476" cy="208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datos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data.frame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edad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ingreso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datos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data.frame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datos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personas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datos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cbind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datos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personas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E92448-ECD9-1914-58D2-628AEB64FEB9}"/>
              </a:ext>
            </a:extLst>
          </p:cNvPr>
          <p:cNvSpPr txBox="1"/>
          <p:nvPr/>
        </p:nvSpPr>
        <p:spPr>
          <a:xfrm>
            <a:off x="1237356" y="5157978"/>
            <a:ext cx="6094476" cy="118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s-MX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library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tidyverse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datos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tibble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personas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ingreso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edad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5622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0" grpId="0"/>
      <p:bldP spid="28" grpId="0"/>
      <p:bldP spid="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9D1E0-AC77-6D8F-8B25-6F5441E57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buClr>
                <a:srgbClr val="000000"/>
              </a:buClr>
            </a:pPr>
            <a:r>
              <a:rPr lang="es-ES" sz="3200" b="1" dirty="0">
                <a:solidFill>
                  <a:srgbClr val="0070C0"/>
                </a:solidFill>
              </a:rPr>
              <a:t>Ejercicios !! Datos de muestra en R</a:t>
            </a:r>
            <a:endParaRPr lang="en-001" sz="32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A279C-FC34-DD0B-6594-01C948746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 Studio tiene algunos </a:t>
            </a:r>
            <a:r>
              <a:rPr lang="es-E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datasets</a:t>
            </a:r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con los cuales hacer pruebas y practicar</a:t>
            </a:r>
          </a:p>
          <a:p>
            <a:endParaRPr lang="es-E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 ejecutan con el comando </a:t>
            </a:r>
            <a:r>
              <a:rPr lang="es-E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“data()”</a:t>
            </a:r>
          </a:p>
          <a:p>
            <a:endParaRPr lang="es-ES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Utilizaremos los de “</a:t>
            </a:r>
            <a:r>
              <a:rPr lang="es-E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trees</a:t>
            </a:r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” para nuestro ejercicio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07E3EF-A002-FD81-8528-7FD4B2567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467" y="2047146"/>
            <a:ext cx="5582027" cy="390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968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7F97B-CD48-FD0B-B327-8193F620B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627" y="360809"/>
            <a:ext cx="10515600" cy="1325563"/>
          </a:xfrm>
        </p:spPr>
        <p:txBody>
          <a:bodyPr/>
          <a:lstStyle/>
          <a:p>
            <a:pPr>
              <a:lnSpc>
                <a:spcPct val="100000"/>
              </a:lnSpc>
              <a:buClr>
                <a:srgbClr val="000000"/>
              </a:buClr>
            </a:pPr>
            <a:r>
              <a:rPr lang="es-ES" sz="3200" b="1" dirty="0">
                <a:solidFill>
                  <a:srgbClr val="0070C0"/>
                </a:solidFill>
              </a:rPr>
              <a:t>Datos de muestra en R</a:t>
            </a:r>
            <a:endParaRPr lang="en-001" sz="32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528CF-3CE8-F409-A4DB-CA2181BC5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Pueden explorar los datos apretando “F1” cuando hacen </a:t>
            </a:r>
            <a:r>
              <a:rPr lang="es-E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click</a:t>
            </a:r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sobre los datos a ejecutar.</a:t>
            </a:r>
          </a:p>
          <a:p>
            <a:endParaRPr lang="es-E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Pueden observar la descripción de cada una de las variables en el panel de ayuda</a:t>
            </a:r>
            <a:endParaRPr lang="en-00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64329F-EE38-B28F-C3E1-438682560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25625"/>
            <a:ext cx="5809606" cy="336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07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1AF08-C0E9-CE62-B9C0-29EE7FCA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buClr>
                <a:srgbClr val="000000"/>
              </a:buClr>
            </a:pPr>
            <a:r>
              <a:rPr lang="es-ES" sz="3200" b="1" dirty="0">
                <a:solidFill>
                  <a:srgbClr val="0070C0"/>
                </a:solidFill>
              </a:rPr>
              <a:t>Estadísticas básicas</a:t>
            </a:r>
            <a:endParaRPr lang="en-001" sz="32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31270-0EAE-0357-AA13-CD2300791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 tiene por defecto algunas pruebas estadísticas y parámetros de los datos</a:t>
            </a:r>
          </a:p>
          <a:p>
            <a:endParaRPr lang="es-E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Podemos hacer algunos cálculos simples de cada una de las columnas utilizando la función y “$” para designar la columna</a:t>
            </a:r>
          </a:p>
          <a:p>
            <a:endParaRPr lang="es-E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 la función </a:t>
            </a:r>
            <a:r>
              <a:rPr lang="es-ES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summary</a:t>
            </a:r>
            <a:r>
              <a:rPr lang="es-E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() </a:t>
            </a:r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también podemos hacer un resumen de las variables</a:t>
            </a:r>
            <a:endParaRPr lang="en-00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C7FFBA-F431-852C-E793-CB9A7C75E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322" y="3127342"/>
            <a:ext cx="5109920" cy="150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682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0596E-5C29-DD79-240A-F01B63F60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buClr>
                <a:srgbClr val="000000"/>
              </a:buClr>
            </a:pPr>
            <a:r>
              <a:rPr lang="es-ES" sz="3200" b="1" dirty="0">
                <a:solidFill>
                  <a:srgbClr val="0070C0"/>
                </a:solidFill>
              </a:rPr>
              <a:t>Cálculo de una nueva columna</a:t>
            </a:r>
            <a:endParaRPr lang="en-001" sz="32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BCCAB-8EDC-5306-E1B3-F165EF3C2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algn="just"/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Podemos calcular una nueva columna utilizando la asignación y la función que queremos calcular.</a:t>
            </a:r>
          </a:p>
          <a:p>
            <a:pPr algn="just"/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Supongamos que queremos calcular la relación entre el volumen y la altura para cada uno de los árboles</a:t>
            </a:r>
          </a:p>
          <a:p>
            <a:pPr algn="just"/>
            <a:endParaRPr lang="es-E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just"/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La función devuelve una nueva columna llamada “</a:t>
            </a:r>
            <a:r>
              <a:rPr lang="es-E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tres$vol_alt</a:t>
            </a:r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3A54D1-10B5-259A-DFA9-82394F049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372" y="2971800"/>
            <a:ext cx="4789488" cy="29681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87E23E-88C5-A14B-DD81-E88E0EBFCED6}"/>
              </a:ext>
            </a:extLst>
          </p:cNvPr>
          <p:cNvSpPr/>
          <p:nvPr/>
        </p:nvSpPr>
        <p:spPr>
          <a:xfrm>
            <a:off x="9597356" y="3017386"/>
            <a:ext cx="341485" cy="3397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8D3D9F-6627-A8DF-7400-1E5D676B382F}"/>
              </a:ext>
            </a:extLst>
          </p:cNvPr>
          <p:cNvCxnSpPr>
            <a:cxnSpLocks/>
          </p:cNvCxnSpPr>
          <p:nvPr/>
        </p:nvCxnSpPr>
        <p:spPr>
          <a:xfrm flipH="1" flipV="1">
            <a:off x="10022816" y="3357184"/>
            <a:ext cx="347231" cy="6753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9EDA8A7-25C3-B354-B3BF-3A8131BD1D28}"/>
              </a:ext>
            </a:extLst>
          </p:cNvPr>
          <p:cNvSpPr txBox="1"/>
          <p:nvPr/>
        </p:nvSpPr>
        <p:spPr>
          <a:xfrm>
            <a:off x="9521952" y="3973259"/>
            <a:ext cx="267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¡Esto es una división!</a:t>
            </a:r>
            <a:endParaRPr lang="en-001" b="1" dirty="0"/>
          </a:p>
        </p:txBody>
      </p:sp>
    </p:spTree>
    <p:extLst>
      <p:ext uri="{BB962C8B-B14F-4D97-AF65-F5344CB8AC3E}">
        <p14:creationId xmlns:p14="http://schemas.microsoft.com/office/powerpoint/2010/main" val="3678098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F008-307E-8FEF-8331-81DC38165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buClr>
                <a:srgbClr val="000000"/>
              </a:buClr>
            </a:pPr>
            <a:r>
              <a:rPr lang="es-ES" sz="3200" b="1" dirty="0">
                <a:solidFill>
                  <a:srgbClr val="0070C0"/>
                </a:solidFill>
              </a:rPr>
              <a:t>Ejercicio</a:t>
            </a:r>
            <a:endParaRPr lang="en-001" sz="32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1545B-2551-B500-A7AA-6E7DEBF1C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Supongamos ahora que queremos calcular el volumen de madera de cada uno de los árboles, asumiendo que alrededor del 87% del árbol es madera (el resto es agua…)</a:t>
            </a:r>
          </a:p>
          <a:p>
            <a:pPr algn="just"/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Calcular el volumen de madera sin agua para todas las observaciones usando regla de tres simple.</a:t>
            </a:r>
          </a:p>
          <a:p>
            <a:pPr algn="just"/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¿Cuánto es el volumen total de madera que obtengo de todos mis árboles?</a:t>
            </a:r>
          </a:p>
          <a:p>
            <a:pPr algn="just"/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¿Cuánto es el volumen de madera promedio que obtengo de la muestra?</a:t>
            </a:r>
          </a:p>
          <a:p>
            <a:pPr algn="just"/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Después queremos guardar nuestros datos...</a:t>
            </a:r>
          </a:p>
        </p:txBody>
      </p:sp>
    </p:spTree>
    <p:extLst>
      <p:ext uri="{BB962C8B-B14F-4D97-AF65-F5344CB8AC3E}">
        <p14:creationId xmlns:p14="http://schemas.microsoft.com/office/powerpoint/2010/main" val="51880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2BD97CBD-832A-4695-C224-27C477697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Fuegos artificiales en el cielo&#10;&#10;El contenido generado por IA puede ser incorrecto.">
            <a:extLst>
              <a:ext uri="{FF2B5EF4-FFF2-40B4-BE49-F238E27FC236}">
                <a16:creationId xmlns:a16="http://schemas.microsoft.com/office/drawing/2014/main" id="{6067A4CD-8F09-91B8-5EA9-9A212DE47C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0228" b="1022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EBAE3ACB-5721-C0D6-4053-3EE1ECE56AF6}"/>
              </a:ext>
            </a:extLst>
          </p:cNvPr>
          <p:cNvSpPr/>
          <p:nvPr/>
        </p:nvSpPr>
        <p:spPr>
          <a:xfrm>
            <a:off x="-1" y="4334776"/>
            <a:ext cx="7200000" cy="1015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CL" sz="3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Buenas Prácticas en programación</a:t>
            </a:r>
            <a:endParaRPr lang="es-CL" sz="36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01256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706ED-425F-66F7-0D11-754283923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6E0D0-5F5A-A21E-1B79-327102B6D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es-CL" sz="3200" b="1" dirty="0">
                <a:solidFill>
                  <a:srgbClr val="0070C0"/>
                </a:solidFill>
                <a:sym typeface="Arial"/>
              </a:rPr>
              <a:t>Buenas prácticas para en programación </a:t>
            </a:r>
            <a:endParaRPr lang="en-US" sz="3200" b="1" dirty="0">
              <a:solidFill>
                <a:srgbClr val="0070C0"/>
              </a:solidFill>
              <a:sym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BA523-49FE-7F59-3C33-057DD8AE2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s-CL" dirty="0"/>
              <a:t>Sé curioso/</a:t>
            </a:r>
            <a:r>
              <a:rPr lang="es-CL" dirty="0" err="1"/>
              <a:t>sa</a:t>
            </a:r>
            <a:r>
              <a:rPr lang="es-CL" dirty="0"/>
              <a:t> : hazte preguntas sobre tus datos, y busca información activamente. </a:t>
            </a:r>
          </a:p>
          <a:p>
            <a:r>
              <a:rPr lang="en-US" dirty="0"/>
              <a:t>¡No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desanimes</a:t>
            </a:r>
            <a:r>
              <a:rPr lang="en-US" dirty="0"/>
              <a:t>!</a:t>
            </a:r>
          </a:p>
          <a:p>
            <a:r>
              <a:rPr lang="en-US" dirty="0"/>
              <a:t>¡Nunca </a:t>
            </a:r>
            <a:r>
              <a:rPr lang="en-US" dirty="0" err="1"/>
              <a:t>dejes</a:t>
            </a:r>
            <a:r>
              <a:rPr lang="en-US" dirty="0"/>
              <a:t> de </a:t>
            </a:r>
            <a:r>
              <a:rPr lang="en-US" dirty="0" err="1"/>
              <a:t>aprender</a:t>
            </a:r>
            <a:r>
              <a:rPr lang="en-US" dirty="0"/>
              <a:t>!</a:t>
            </a:r>
          </a:p>
          <a:p>
            <a:r>
              <a:rPr lang="en-US" dirty="0"/>
              <a:t>Practica la </a:t>
            </a:r>
            <a:r>
              <a:rPr lang="en-US" dirty="0" err="1"/>
              <a:t>instalación</a:t>
            </a:r>
            <a:r>
              <a:rPr lang="en-US" dirty="0"/>
              <a:t> de </a:t>
            </a:r>
            <a:r>
              <a:rPr lang="en-US" dirty="0" err="1"/>
              <a:t>paquetes</a:t>
            </a:r>
            <a:r>
              <a:rPr lang="en-US" dirty="0"/>
              <a:t> </a:t>
            </a:r>
          </a:p>
          <a:p>
            <a:r>
              <a:rPr lang="en-US" b="1" dirty="0"/>
              <a:t>Leer la </a:t>
            </a:r>
            <a:r>
              <a:rPr lang="en-US" b="1" err="1"/>
              <a:t>documentación</a:t>
            </a:r>
            <a:r>
              <a:rPr lang="en-US" b="1" dirty="0"/>
              <a:t> </a:t>
            </a:r>
          </a:p>
          <a:p>
            <a:r>
              <a:rPr lang="en-US" b="1" err="1"/>
              <a:t>Comentarios</a:t>
            </a:r>
            <a:r>
              <a:rPr lang="en-US" b="1" dirty="0"/>
              <a:t>, </a:t>
            </a:r>
            <a:r>
              <a:rPr lang="en-US" b="1" err="1"/>
              <a:t>comentarios</a:t>
            </a:r>
            <a:r>
              <a:rPr lang="en-US" b="1" dirty="0"/>
              <a:t> y </a:t>
            </a:r>
          </a:p>
          <a:p>
            <a:pPr marL="0" indent="0">
              <a:buNone/>
            </a:pPr>
            <a:r>
              <a:rPr lang="en-US" b="1" dirty="0" err="1"/>
              <a:t>más</a:t>
            </a:r>
            <a:r>
              <a:rPr lang="en-US" b="1" dirty="0"/>
              <a:t> </a:t>
            </a:r>
            <a:r>
              <a:rPr lang="en-US" b="1" dirty="0" err="1"/>
              <a:t>comentarios</a:t>
            </a:r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333ADB-061A-DD6E-878D-11C1B19A3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7755" y="2359426"/>
            <a:ext cx="2143125" cy="2143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309BC3-11E6-1E71-72FC-7C8027E36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650" y="2360295"/>
            <a:ext cx="2293620" cy="31127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B4DF6F-A84E-14B2-886F-E7F27FCC2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640" y="4647201"/>
            <a:ext cx="2564674" cy="194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79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0BECDBFE-6AF8-9124-7FBB-962058CF6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uegos artificiales en el cielo&#10;&#10;El contenido generado por IA puede ser incorrecto.">
            <a:extLst>
              <a:ext uri="{FF2B5EF4-FFF2-40B4-BE49-F238E27FC236}">
                <a16:creationId xmlns:a16="http://schemas.microsoft.com/office/drawing/2014/main" id="{98312C26-3916-DC5B-7EB5-FB9D199E42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44" t="73388" r="5661" b="22121"/>
          <a:stretch>
            <a:fillRect/>
          </a:stretch>
        </p:blipFill>
        <p:spPr>
          <a:xfrm>
            <a:off x="0" y="6376368"/>
            <a:ext cx="12192000" cy="481631"/>
          </a:xfrm>
          <a:prstGeom prst="rect">
            <a:avLst/>
          </a:prstGeom>
        </p:spPr>
      </p:pic>
      <p:pic>
        <p:nvPicPr>
          <p:cNvPr id="2" name="Imagen 1" descr="90% off all code comments - Programmer Humor | Funny code programmer, Cute  programmer cat, Geek cat programmer">
            <a:extLst>
              <a:ext uri="{FF2B5EF4-FFF2-40B4-BE49-F238E27FC236}">
                <a16:creationId xmlns:a16="http://schemas.microsoft.com/office/drawing/2014/main" id="{4A10EA35-3EB9-4958-546D-5577B15DD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579" y="468414"/>
            <a:ext cx="467366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6530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E90F55B2-BFA5-09FA-26F8-549E48C29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Fuegos artificiales en el cielo&#10;&#10;El contenido generado por IA puede ser incorrecto.">
            <a:extLst>
              <a:ext uri="{FF2B5EF4-FFF2-40B4-BE49-F238E27FC236}">
                <a16:creationId xmlns:a16="http://schemas.microsoft.com/office/drawing/2014/main" id="{AD184DE4-C47E-70F6-473F-223457BCBC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44" t="73388" r="5661" b="22121"/>
          <a:stretch>
            <a:fillRect/>
          </a:stretch>
        </p:blipFill>
        <p:spPr>
          <a:xfrm>
            <a:off x="0" y="6376368"/>
            <a:ext cx="12192000" cy="481631"/>
          </a:xfrm>
          <a:prstGeom prst="rect">
            <a:avLst/>
          </a:prstGeom>
        </p:spPr>
      </p:pic>
      <p:sp>
        <p:nvSpPr>
          <p:cNvPr id="103" name="Google Shape;103;p3">
            <a:extLst>
              <a:ext uri="{FF2B5EF4-FFF2-40B4-BE49-F238E27FC236}">
                <a16:creationId xmlns:a16="http://schemas.microsoft.com/office/drawing/2014/main" id="{B07E6973-6C16-DE88-D592-A2E601334A10}"/>
              </a:ext>
            </a:extLst>
          </p:cNvPr>
          <p:cNvSpPr/>
          <p:nvPr/>
        </p:nvSpPr>
        <p:spPr>
          <a:xfrm>
            <a:off x="498587" y="389681"/>
            <a:ext cx="9262930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000" tIns="43500" rIns="87000" bIns="43500" anchor="t" anchorCtr="0">
            <a:spAutoFit/>
          </a:bodyPr>
          <a:lstStyle/>
          <a:p>
            <a:r>
              <a:rPr lang="es-CL" sz="32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 (?) – Algunas ventajas</a:t>
            </a:r>
            <a:endParaRPr sz="3200" b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BB7A0F3B-BEB0-2425-8E85-C8D3F9136785}"/>
              </a:ext>
            </a:extLst>
          </p:cNvPr>
          <p:cNvSpPr txBox="1"/>
          <p:nvPr/>
        </p:nvSpPr>
        <p:spPr>
          <a:xfrm>
            <a:off x="587652" y="1310271"/>
            <a:ext cx="1110184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L" sz="2400" dirty="0"/>
              <a:t>Licencia GNU General Public </a:t>
            </a:r>
            <a:r>
              <a:rPr lang="es-CL" sz="2400" dirty="0" err="1"/>
              <a:t>License</a:t>
            </a:r>
            <a:r>
              <a:rPr lang="es-CL" sz="2400" dirty="0"/>
              <a:t> – Es gratuito y abierto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L" sz="2400" dirty="0"/>
              <a:t>Lenguaje efectivo y sencillo de leer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L" sz="2400" dirty="0"/>
              <a:t>Manejo de grandes volúmenes de datos – Limitado a la potencia de cálculo del equipo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L" sz="2400" dirty="0"/>
              <a:t>Rápido en la ejecución (Opera en la RAM)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L" sz="2400" dirty="0"/>
              <a:t>Comunidad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L" sz="2400" dirty="0"/>
              <a:t>Replicabilidad para fines científicos</a:t>
            </a:r>
          </a:p>
          <a:p>
            <a:pPr algn="just">
              <a:buClr>
                <a:schemeClr val="dk1"/>
              </a:buClr>
              <a:buSzPts val="2000"/>
            </a:pPr>
            <a:r>
              <a:rPr lang="es-ES" sz="24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952314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A024B9F9-45E3-FCAC-DBFD-6F33F5175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Fuegos artificiales en el cielo&#10;&#10;El contenido generado por IA puede ser incorrecto.">
            <a:extLst>
              <a:ext uri="{FF2B5EF4-FFF2-40B4-BE49-F238E27FC236}">
                <a16:creationId xmlns:a16="http://schemas.microsoft.com/office/drawing/2014/main" id="{A4F96384-1960-E9C3-0374-C92B8FC373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0228" b="1022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0D0933C3-647B-A7CC-8B78-8BE7677F6F3B}"/>
              </a:ext>
            </a:extLst>
          </p:cNvPr>
          <p:cNvSpPr/>
          <p:nvPr/>
        </p:nvSpPr>
        <p:spPr>
          <a:xfrm>
            <a:off x="2496000" y="2461962"/>
            <a:ext cx="7200000" cy="19340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3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¿Dudas</a:t>
            </a:r>
            <a:r>
              <a:rPr lang="es-CL" sz="3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consultas o comentarios?</a:t>
            </a:r>
          </a:p>
        </p:txBody>
      </p:sp>
    </p:spTree>
    <p:extLst>
      <p:ext uri="{BB962C8B-B14F-4D97-AF65-F5344CB8AC3E}">
        <p14:creationId xmlns:p14="http://schemas.microsoft.com/office/powerpoint/2010/main" val="2073345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4034</TotalTime>
  <Words>1831</Words>
  <Application>Microsoft Office PowerPoint</Application>
  <PresentationFormat>Panorámica</PresentationFormat>
  <Paragraphs>217</Paragraphs>
  <Slides>42</Slides>
  <Notes>14</Notes>
  <HiddenSlides>0</HiddenSlides>
  <MMClips>1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42</vt:i4>
      </vt:variant>
    </vt:vector>
  </HeadingPairs>
  <TitlesOfParts>
    <vt:vector size="50" baseType="lpstr">
      <vt:lpstr>Aptos</vt:lpstr>
      <vt:lpstr>Aptos Display</vt:lpstr>
      <vt:lpstr>Calibri</vt:lpstr>
      <vt:lpstr>Calibri Light</vt:lpstr>
      <vt:lpstr>Consolas</vt:lpstr>
      <vt:lpstr>Arial</vt:lpstr>
      <vt:lpstr>Tema de Office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Flujo de trabajo en R </vt:lpstr>
      <vt:lpstr>¿Qué se puede hacer con R?</vt:lpstr>
      <vt:lpstr>Presentación de PowerPoint</vt:lpstr>
      <vt:lpstr>Antes de los paquetes</vt:lpstr>
      <vt:lpstr>¿Qué son los paquetes?</vt:lpstr>
      <vt:lpstr>Ejemplos de paquetes: tidyverse</vt:lpstr>
      <vt:lpstr>Ejemplos de paquetes: markdown</vt:lpstr>
      <vt:lpstr>Presentación de PowerPoint</vt:lpstr>
      <vt:lpstr>Proyectos</vt:lpstr>
      <vt:lpstr>Proyectos en R</vt:lpstr>
      <vt:lpstr>Presentación de PowerPoint</vt:lpstr>
      <vt:lpstr>Proyectos</vt:lpstr>
      <vt:lpstr>Proyectos en R</vt:lpstr>
      <vt:lpstr>Presentación de PowerPoint</vt:lpstr>
      <vt:lpstr>Operadores básicos</vt:lpstr>
      <vt:lpstr>Sintaxis básica en R</vt:lpstr>
      <vt:lpstr>Presentación de PowerPoint</vt:lpstr>
      <vt:lpstr>Objetos en R</vt:lpstr>
      <vt:lpstr>Bases de datos en R</vt:lpstr>
      <vt:lpstr>Sintaxis básica en R</vt:lpstr>
      <vt:lpstr>Sintaxis básica en R: funciones</vt:lpstr>
      <vt:lpstr>La pipa en R</vt:lpstr>
      <vt:lpstr>Comentarios</vt:lpstr>
      <vt:lpstr>Creando tablas de datos</vt:lpstr>
      <vt:lpstr>Ejercicios !! Datos de muestra en R</vt:lpstr>
      <vt:lpstr>Datos de muestra en R</vt:lpstr>
      <vt:lpstr>Estadísticas básicas</vt:lpstr>
      <vt:lpstr>Cálculo de una nueva columna</vt:lpstr>
      <vt:lpstr>Ejercicio</vt:lpstr>
      <vt:lpstr>Presentación de PowerPoint</vt:lpstr>
      <vt:lpstr>Buenas prácticas para en programación 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Pavillion01</dc:creator>
  <cp:lastModifiedBy>Kelly Constanza Yubini Yubini</cp:lastModifiedBy>
  <cp:revision>120</cp:revision>
  <dcterms:created xsi:type="dcterms:W3CDTF">2016-05-19T13:28:23Z</dcterms:created>
  <dcterms:modified xsi:type="dcterms:W3CDTF">2026-09-22T18:44:52Z</dcterms:modified>
</cp:coreProperties>
</file>