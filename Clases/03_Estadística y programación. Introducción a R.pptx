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63" r:id="rId3"/>
    <p:sldId id="264" r:id="rId4"/>
    <p:sldId id="356" r:id="rId5"/>
    <p:sldId id="354" r:id="rId6"/>
    <p:sldId id="355" r:id="rId7"/>
    <p:sldId id="265" r:id="rId8"/>
    <p:sldId id="266" r:id="rId9"/>
    <p:sldId id="267" r:id="rId10"/>
    <p:sldId id="268" r:id="rId11"/>
    <p:sldId id="357" r:id="rId12"/>
    <p:sldId id="353" r:id="rId13"/>
    <p:sldId id="269" r:id="rId14"/>
    <p:sldId id="326" r:id="rId15"/>
    <p:sldId id="270" r:id="rId16"/>
    <p:sldId id="271" r:id="rId17"/>
    <p:sldId id="327" r:id="rId18"/>
    <p:sldId id="272" r:id="rId19"/>
    <p:sldId id="325" r:id="rId20"/>
    <p:sldId id="323" r:id="rId21"/>
    <p:sldId id="328" r:id="rId22"/>
    <p:sldId id="324" r:id="rId23"/>
    <p:sldId id="329" r:id="rId24"/>
    <p:sldId id="330" r:id="rId25"/>
    <p:sldId id="331" r:id="rId26"/>
    <p:sldId id="333" r:id="rId27"/>
    <p:sldId id="332" r:id="rId28"/>
    <p:sldId id="336" r:id="rId29"/>
    <p:sldId id="337" r:id="rId30"/>
    <p:sldId id="338" r:id="rId31"/>
    <p:sldId id="339" r:id="rId32"/>
    <p:sldId id="335" r:id="rId33"/>
    <p:sldId id="341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B086C-AA20-4287-3B2E-D6EA631E046F}" v="650" dt="2025-11-12T18:58:17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Constanza Yubini Yubini" userId="S::kyubini@udec.cl::d04d973c-9196-461e-b158-9ba1046d1522" providerId="AD" clId="Web-{CEDB086C-AA20-4287-3B2E-D6EA631E046F}"/>
    <pc:docChg chg="addSld delSld modSld sldOrd">
      <pc:chgData name="Kelly Constanza Yubini Yubini" userId="S::kyubini@udec.cl::d04d973c-9196-461e-b158-9ba1046d1522" providerId="AD" clId="Web-{CEDB086C-AA20-4287-3B2E-D6EA631E046F}" dt="2025-11-12T18:58:17.930" v="625" actId="1076"/>
      <pc:docMkLst>
        <pc:docMk/>
      </pc:docMkLst>
      <pc:sldChg chg="modSp">
        <pc:chgData name="Kelly Constanza Yubini Yubini" userId="S::kyubini@udec.cl::d04d973c-9196-461e-b158-9ba1046d1522" providerId="AD" clId="Web-{CEDB086C-AA20-4287-3B2E-D6EA631E046F}" dt="2025-11-12T18:26:32.051" v="472" actId="20577"/>
        <pc:sldMkLst>
          <pc:docMk/>
          <pc:sldMk cId="827343303" sldId="263"/>
        </pc:sldMkLst>
        <pc:spChg chg="mod">
          <ac:chgData name="Kelly Constanza Yubini Yubini" userId="S::kyubini@udec.cl::d04d973c-9196-461e-b158-9ba1046d1522" providerId="AD" clId="Web-{CEDB086C-AA20-4287-3B2E-D6EA631E046F}" dt="2025-11-12T18:26:32.051" v="472" actId="20577"/>
          <ac:spMkLst>
            <pc:docMk/>
            <pc:sldMk cId="827343303" sldId="263"/>
            <ac:spMk id="2" creationId="{3C75F08F-6B38-1FD3-3BD6-E1A4E5B6E8BE}"/>
          </ac:spMkLst>
        </pc:spChg>
      </pc:sldChg>
      <pc:sldChg chg="addSp delSp modSp ord">
        <pc:chgData name="Kelly Constanza Yubini Yubini" userId="S::kyubini@udec.cl::d04d973c-9196-461e-b158-9ba1046d1522" providerId="AD" clId="Web-{CEDB086C-AA20-4287-3B2E-D6EA631E046F}" dt="2025-11-12T18:30:24.021" v="524" actId="1076"/>
        <pc:sldMkLst>
          <pc:docMk/>
          <pc:sldMk cId="2462058846" sldId="264"/>
        </pc:sldMkLst>
        <pc:spChg chg="del mod">
          <ac:chgData name="Kelly Constanza Yubini Yubini" userId="S::kyubini@udec.cl::d04d973c-9196-461e-b158-9ba1046d1522" providerId="AD" clId="Web-{CEDB086C-AA20-4287-3B2E-D6EA631E046F}" dt="2025-11-12T18:27:10.051" v="508"/>
          <ac:spMkLst>
            <pc:docMk/>
            <pc:sldMk cId="2462058846" sldId="264"/>
            <ac:spMk id="2" creationId="{2E24C55E-6E3C-AFD7-53DF-17A22701B5E2}"/>
          </ac:spMkLst>
        </pc:spChg>
        <pc:spChg chg="mod">
          <ac:chgData name="Kelly Constanza Yubini Yubini" userId="S::kyubini@udec.cl::d04d973c-9196-461e-b158-9ba1046d1522" providerId="AD" clId="Web-{CEDB086C-AA20-4287-3B2E-D6EA631E046F}" dt="2025-11-12T18:30:18.708" v="521" actId="20577"/>
          <ac:spMkLst>
            <pc:docMk/>
            <pc:sldMk cId="2462058846" sldId="264"/>
            <ac:spMk id="3" creationId="{FB579DFB-A56E-2327-C860-6C6A3CC2F192}"/>
          </ac:spMkLst>
        </pc:spChg>
        <pc:picChg chg="add mod">
          <ac:chgData name="Kelly Constanza Yubini Yubini" userId="S::kyubini@udec.cl::d04d973c-9196-461e-b158-9ba1046d1522" providerId="AD" clId="Web-{CEDB086C-AA20-4287-3B2E-D6EA631E046F}" dt="2025-11-12T18:30:24.021" v="524" actId="1076"/>
          <ac:picMkLst>
            <pc:docMk/>
            <pc:sldMk cId="2462058846" sldId="264"/>
            <ac:picMk id="4" creationId="{B23B4975-CA5D-6E7D-3193-63FCA119BBD6}"/>
          </ac:picMkLst>
        </pc:picChg>
      </pc:sldChg>
      <pc:sldChg chg="addSp delSp modSp">
        <pc:chgData name="Kelly Constanza Yubini Yubini" userId="S::kyubini@udec.cl::d04d973c-9196-461e-b158-9ba1046d1522" providerId="AD" clId="Web-{CEDB086C-AA20-4287-3B2E-D6EA631E046F}" dt="2025-11-12T17:38:23.755" v="223" actId="14100"/>
        <pc:sldMkLst>
          <pc:docMk/>
          <pc:sldMk cId="2074181912" sldId="265"/>
        </pc:sldMkLst>
        <pc:spChg chg="mod">
          <ac:chgData name="Kelly Constanza Yubini Yubini" userId="S::kyubini@udec.cl::d04d973c-9196-461e-b158-9ba1046d1522" providerId="AD" clId="Web-{CEDB086C-AA20-4287-3B2E-D6EA631E046F}" dt="2025-11-12T17:25:18.886" v="69" actId="14100"/>
          <ac:spMkLst>
            <pc:docMk/>
            <pc:sldMk cId="2074181912" sldId="265"/>
            <ac:spMk id="3" creationId="{66A6DCD0-A340-D776-725F-17FE3BF92DEB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38:23.755" v="223" actId="14100"/>
          <ac:spMkLst>
            <pc:docMk/>
            <pc:sldMk cId="2074181912" sldId="265"/>
            <ac:spMk id="4" creationId="{E444EF59-85EC-DD17-8715-22E253F9F3F3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25:23.183" v="75"/>
          <ac:spMkLst>
            <pc:docMk/>
            <pc:sldMk cId="2074181912" sldId="265"/>
            <ac:spMk id="5" creationId="{4CE135ED-8CFF-BE99-C324-81F13A2917F6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36:28.256" v="216" actId="20577"/>
          <ac:spMkLst>
            <pc:docMk/>
            <pc:sldMk cId="2074181912" sldId="265"/>
            <ac:spMk id="6" creationId="{8E900014-FF7C-ED4E-74AC-F14C63EC68F4}"/>
          </ac:spMkLst>
        </pc:spChg>
        <pc:spChg chg="add mod">
          <ac:chgData name="Kelly Constanza Yubini Yubini" userId="S::kyubini@udec.cl::d04d973c-9196-461e-b158-9ba1046d1522" providerId="AD" clId="Web-{CEDB086C-AA20-4287-3B2E-D6EA631E046F}" dt="2025-11-12T17:36:42.131" v="220" actId="20577"/>
          <ac:spMkLst>
            <pc:docMk/>
            <pc:sldMk cId="2074181912" sldId="265"/>
            <ac:spMk id="7" creationId="{1841542D-2000-CB50-B68A-C990C59EA8A2}"/>
          </ac:spMkLst>
        </pc:spChg>
        <pc:spChg chg="add del">
          <ac:chgData name="Kelly Constanza Yubini Yubini" userId="S::kyubini@udec.cl::d04d973c-9196-461e-b158-9ba1046d1522" providerId="AD" clId="Web-{CEDB086C-AA20-4287-3B2E-D6EA631E046F}" dt="2025-11-12T17:38:09.552" v="222"/>
          <ac:spMkLst>
            <pc:docMk/>
            <pc:sldMk cId="2074181912" sldId="265"/>
            <ac:spMk id="8" creationId="{BB1F1712-74BB-70DE-5082-C82D3FFFD0DE}"/>
          </ac:spMkLst>
        </pc:spChg>
      </pc:sldChg>
      <pc:sldChg chg="addSp modSp">
        <pc:chgData name="Kelly Constanza Yubini Yubini" userId="S::kyubini@udec.cl::d04d973c-9196-461e-b158-9ba1046d1522" providerId="AD" clId="Web-{CEDB086C-AA20-4287-3B2E-D6EA631E046F}" dt="2025-11-12T18:51:04.632" v="540" actId="1076"/>
        <pc:sldMkLst>
          <pc:docMk/>
          <pc:sldMk cId="3497472620" sldId="268"/>
        </pc:sldMkLst>
        <pc:picChg chg="add mod">
          <ac:chgData name="Kelly Constanza Yubini Yubini" userId="S::kyubini@udec.cl::d04d973c-9196-461e-b158-9ba1046d1522" providerId="AD" clId="Web-{CEDB086C-AA20-4287-3B2E-D6EA631E046F}" dt="2025-11-12T18:51:04.632" v="540" actId="1076"/>
          <ac:picMkLst>
            <pc:docMk/>
            <pc:sldMk cId="3497472620" sldId="268"/>
            <ac:picMk id="4" creationId="{99AD0F56-53EC-12C0-D2F1-CCF573FDA293}"/>
          </ac:picMkLst>
        </pc:picChg>
      </pc:sldChg>
      <pc:sldChg chg="modSp">
        <pc:chgData name="Kelly Constanza Yubini Yubini" userId="S::kyubini@udec.cl::d04d973c-9196-461e-b158-9ba1046d1522" providerId="AD" clId="Web-{CEDB086C-AA20-4287-3B2E-D6EA631E046F}" dt="2025-11-12T18:54:57.164" v="584" actId="20577"/>
        <pc:sldMkLst>
          <pc:docMk/>
          <pc:sldMk cId="518808288" sldId="349"/>
        </pc:sldMkLst>
        <pc:spChg chg="mod">
          <ac:chgData name="Kelly Constanza Yubini Yubini" userId="S::kyubini@udec.cl::d04d973c-9196-461e-b158-9ba1046d1522" providerId="AD" clId="Web-{CEDB086C-AA20-4287-3B2E-D6EA631E046F}" dt="2025-11-12T18:54:57.164" v="584" actId="20577"/>
          <ac:spMkLst>
            <pc:docMk/>
            <pc:sldMk cId="518808288" sldId="349"/>
            <ac:spMk id="3" creationId="{BF81545B-2551-B500-A7AA-6E7DEBF1CE86}"/>
          </ac:spMkLst>
        </pc:spChg>
      </pc:sldChg>
      <pc:sldChg chg="addSp modSp add replId">
        <pc:chgData name="Kelly Constanza Yubini Yubini" userId="S::kyubini@udec.cl::d04d973c-9196-461e-b158-9ba1046d1522" providerId="AD" clId="Web-{CEDB086C-AA20-4287-3B2E-D6EA631E046F}" dt="2025-11-12T17:44:57.342" v="285" actId="20577"/>
        <pc:sldMkLst>
          <pc:docMk/>
          <pc:sldMk cId="344679909" sldId="351"/>
        </pc:sldMkLst>
        <pc:spChg chg="mod">
          <ac:chgData name="Kelly Constanza Yubini Yubini" userId="S::kyubini@udec.cl::d04d973c-9196-461e-b158-9ba1046d1522" providerId="AD" clId="Web-{CEDB086C-AA20-4287-3B2E-D6EA631E046F}" dt="2025-11-12T17:26:10.026" v="110" actId="20577"/>
          <ac:spMkLst>
            <pc:docMk/>
            <pc:sldMk cId="344679909" sldId="351"/>
            <ac:spMk id="2" creationId="{B746E0D0-5F5A-A21E-1B79-327102B6DD85}"/>
          </ac:spMkLst>
        </pc:spChg>
        <pc:spChg chg="mod">
          <ac:chgData name="Kelly Constanza Yubini Yubini" userId="S::kyubini@udec.cl::d04d973c-9196-461e-b158-9ba1046d1522" providerId="AD" clId="Web-{CEDB086C-AA20-4287-3B2E-D6EA631E046F}" dt="2025-11-12T17:44:57.342" v="285" actId="20577"/>
          <ac:spMkLst>
            <pc:docMk/>
            <pc:sldMk cId="344679909" sldId="351"/>
            <ac:spMk id="3" creationId="{327BA523-49FE-7F59-3C33-057DD8AE28AE}"/>
          </ac:spMkLst>
        </pc:spChg>
        <pc:picChg chg="add mod">
          <ac:chgData name="Kelly Constanza Yubini Yubini" userId="S::kyubini@udec.cl::d04d973c-9196-461e-b158-9ba1046d1522" providerId="AD" clId="Web-{CEDB086C-AA20-4287-3B2E-D6EA631E046F}" dt="2025-11-12T17:42:22.625" v="255" actId="1076"/>
          <ac:picMkLst>
            <pc:docMk/>
            <pc:sldMk cId="344679909" sldId="351"/>
            <ac:picMk id="4" creationId="{AA333ADB-061A-DD6E-878D-11C1B19A376A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7:42:26.937" v="257" actId="1076"/>
          <ac:picMkLst>
            <pc:docMk/>
            <pc:sldMk cId="344679909" sldId="351"/>
            <ac:picMk id="5" creationId="{06309BC3-11E6-1E71-72FC-7C8027E3660C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7:42:25.765" v="256" actId="1076"/>
          <ac:picMkLst>
            <pc:docMk/>
            <pc:sldMk cId="344679909" sldId="351"/>
            <ac:picMk id="6" creationId="{F3B4DF6F-A84E-14B2-886F-E7F27FCC2C0C}"/>
          </ac:picMkLst>
        </pc:picChg>
      </pc:sldChg>
      <pc:sldChg chg="addSp delSp modSp new del">
        <pc:chgData name="Kelly Constanza Yubini Yubini" userId="S::kyubini@udec.cl::d04d973c-9196-461e-b158-9ba1046d1522" providerId="AD" clId="Web-{CEDB086C-AA20-4287-3B2E-D6EA631E046F}" dt="2025-11-12T17:25:25.730" v="79"/>
        <pc:sldMkLst>
          <pc:docMk/>
          <pc:sldMk cId="3807867843" sldId="351"/>
        </pc:sldMkLst>
        <pc:spChg chg="add del mod">
          <ac:chgData name="Kelly Constanza Yubini Yubini" userId="S::kyubini@udec.cl::d04d973c-9196-461e-b158-9ba1046d1522" providerId="AD" clId="Web-{CEDB086C-AA20-4287-3B2E-D6EA631E046F}" dt="2025-11-12T17:25:24.245" v="77"/>
          <ac:spMkLst>
            <pc:docMk/>
            <pc:sldMk cId="3807867843" sldId="351"/>
            <ac:spMk id="4" creationId="{E444EF59-85EC-DD17-8715-22E253F9F3F3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25:22.573" v="74"/>
          <ac:spMkLst>
            <pc:docMk/>
            <pc:sldMk cId="3807867843" sldId="351"/>
            <ac:spMk id="5" creationId="{4CE135ED-8CFF-BE99-C324-81F13A2917F6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25:20.308" v="71"/>
          <ac:spMkLst>
            <pc:docMk/>
            <pc:sldMk cId="3807867843" sldId="351"/>
            <ac:spMk id="6" creationId="{8E900014-FF7C-ED4E-74AC-F14C63EC68F4}"/>
          </ac:spMkLst>
        </pc:spChg>
      </pc:sldChg>
      <pc:sldChg chg="new del">
        <pc:chgData name="Kelly Constanza Yubini Yubini" userId="S::kyubini@udec.cl::d04d973c-9196-461e-b158-9ba1046d1522" providerId="AD" clId="Web-{CEDB086C-AA20-4287-3B2E-D6EA631E046F}" dt="2025-11-12T17:45:14.341" v="288"/>
        <pc:sldMkLst>
          <pc:docMk/>
          <pc:sldMk cId="860029946" sldId="352"/>
        </pc:sldMkLst>
      </pc:sldChg>
      <pc:sldChg chg="addSp delSp modSp add replId">
        <pc:chgData name="Kelly Constanza Yubini Yubini" userId="S::kyubini@udec.cl::d04d973c-9196-461e-b158-9ba1046d1522" providerId="AD" clId="Web-{CEDB086C-AA20-4287-3B2E-D6EA631E046F}" dt="2025-11-12T18:02:27.877" v="434" actId="1076"/>
        <pc:sldMkLst>
          <pc:docMk/>
          <pc:sldMk cId="2179102063" sldId="353"/>
        </pc:sldMkLst>
        <pc:spChg chg="mod">
          <ac:chgData name="Kelly Constanza Yubini Yubini" userId="S::kyubini@udec.cl::d04d973c-9196-461e-b158-9ba1046d1522" providerId="AD" clId="Web-{CEDB086C-AA20-4287-3B2E-D6EA631E046F}" dt="2025-11-12T18:01:10.441" v="423" actId="20577"/>
          <ac:spMkLst>
            <pc:docMk/>
            <pc:sldMk cId="2179102063" sldId="353"/>
            <ac:spMk id="3" creationId="{604FAF1C-6DFF-E656-0B54-A4B0A2DEDED7}"/>
          </ac:spMkLst>
        </pc:spChg>
        <pc:picChg chg="del">
          <ac:chgData name="Kelly Constanza Yubini Yubini" userId="S::kyubini@udec.cl::d04d973c-9196-461e-b158-9ba1046d1522" providerId="AD" clId="Web-{CEDB086C-AA20-4287-3B2E-D6EA631E046F}" dt="2025-11-12T17:45:16.998" v="289"/>
          <ac:picMkLst>
            <pc:docMk/>
            <pc:sldMk cId="2179102063" sldId="353"/>
            <ac:picMk id="4" creationId="{C82501A4-3752-4438-8B26-C0D373CD37F9}"/>
          </ac:picMkLst>
        </pc:picChg>
        <pc:picChg chg="del">
          <ac:chgData name="Kelly Constanza Yubini Yubini" userId="S::kyubini@udec.cl::d04d973c-9196-461e-b158-9ba1046d1522" providerId="AD" clId="Web-{CEDB086C-AA20-4287-3B2E-D6EA631E046F}" dt="2025-11-12T17:45:17.779" v="290"/>
          <ac:picMkLst>
            <pc:docMk/>
            <pc:sldMk cId="2179102063" sldId="353"/>
            <ac:picMk id="5" creationId="{4D29C989-9012-308C-224B-4C56A8C9EA87}"/>
          </ac:picMkLst>
        </pc:picChg>
        <pc:picChg chg="del">
          <ac:chgData name="Kelly Constanza Yubini Yubini" userId="S::kyubini@udec.cl::d04d973c-9196-461e-b158-9ba1046d1522" providerId="AD" clId="Web-{CEDB086C-AA20-4287-3B2E-D6EA631E046F}" dt="2025-11-12T17:45:18.044" v="291"/>
          <ac:picMkLst>
            <pc:docMk/>
            <pc:sldMk cId="2179102063" sldId="353"/>
            <ac:picMk id="6" creationId="{25E75070-E81A-1F5D-A90E-C7701D387354}"/>
          </ac:picMkLst>
        </pc:picChg>
        <pc:picChg chg="add del mod modCrop">
          <ac:chgData name="Kelly Constanza Yubini Yubini" userId="S::kyubini@udec.cl::d04d973c-9196-461e-b158-9ba1046d1522" providerId="AD" clId="Web-{CEDB086C-AA20-4287-3B2E-D6EA631E046F}" dt="2025-11-12T18:02:14.956" v="431"/>
          <ac:picMkLst>
            <pc:docMk/>
            <pc:sldMk cId="2179102063" sldId="353"/>
            <ac:picMk id="7" creationId="{A7A1CF0A-78AE-318F-310A-12B0494445AB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02:19.002" v="432" actId="1076"/>
          <ac:picMkLst>
            <pc:docMk/>
            <pc:sldMk cId="2179102063" sldId="353"/>
            <ac:picMk id="8" creationId="{8A2C5C1F-F01D-3979-EC34-835D5B4C54DE}"/>
          </ac:picMkLst>
        </pc:picChg>
        <pc:picChg chg="add del mod">
          <ac:chgData name="Kelly Constanza Yubini Yubini" userId="S::kyubini@udec.cl::d04d973c-9196-461e-b158-9ba1046d1522" providerId="AD" clId="Web-{CEDB086C-AA20-4287-3B2E-D6EA631E046F}" dt="2025-11-12T18:00:37.894" v="418"/>
          <ac:picMkLst>
            <pc:docMk/>
            <pc:sldMk cId="2179102063" sldId="353"/>
            <ac:picMk id="9" creationId="{2EDC3AFD-6948-49B6-61C2-BBF4D38E7BDD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02:27.877" v="434" actId="1076"/>
          <ac:picMkLst>
            <pc:docMk/>
            <pc:sldMk cId="2179102063" sldId="353"/>
            <ac:picMk id="10" creationId="{FD9B1397-EF3B-F5E0-5CAD-703C23F1BBA3}"/>
          </ac:picMkLst>
        </pc:picChg>
      </pc:sldChg>
      <pc:sldChg chg="add replId">
        <pc:chgData name="Kelly Constanza Yubini Yubini" userId="S::kyubini@udec.cl::d04d973c-9196-461e-b158-9ba1046d1522" providerId="AD" clId="Web-{CEDB086C-AA20-4287-3B2E-D6EA631E046F}" dt="2025-11-12T18:25:52.145" v="435"/>
        <pc:sldMkLst>
          <pc:docMk/>
          <pc:sldMk cId="1094129430" sldId="354"/>
        </pc:sldMkLst>
      </pc:sldChg>
      <pc:sldChg chg="add replId">
        <pc:chgData name="Kelly Constanza Yubini Yubini" userId="S::kyubini@udec.cl::d04d973c-9196-461e-b158-9ba1046d1522" providerId="AD" clId="Web-{CEDB086C-AA20-4287-3B2E-D6EA631E046F}" dt="2025-11-12T18:26:33.911" v="473"/>
        <pc:sldMkLst>
          <pc:docMk/>
          <pc:sldMk cId="2858305553" sldId="355"/>
        </pc:sldMkLst>
      </pc:sldChg>
      <pc:sldChg chg="addSp delSp modSp new">
        <pc:chgData name="Kelly Constanza Yubini Yubini" userId="S::kyubini@udec.cl::d04d973c-9196-461e-b158-9ba1046d1522" providerId="AD" clId="Web-{CEDB086C-AA20-4287-3B2E-D6EA631E046F}" dt="2025-11-12T18:44:32.538" v="531" actId="1076"/>
        <pc:sldMkLst>
          <pc:docMk/>
          <pc:sldMk cId="908031499" sldId="356"/>
        </pc:sldMkLst>
        <pc:spChg chg="del">
          <ac:chgData name="Kelly Constanza Yubini Yubini" userId="S::kyubini@udec.cl::d04d973c-9196-461e-b158-9ba1046d1522" providerId="AD" clId="Web-{CEDB086C-AA20-4287-3B2E-D6EA631E046F}" dt="2025-11-12T18:44:29.100" v="530"/>
          <ac:spMkLst>
            <pc:docMk/>
            <pc:sldMk cId="908031499" sldId="356"/>
            <ac:spMk id="2" creationId="{474F4D8A-089B-98AF-D3CD-7F925B2E1554}"/>
          </ac:spMkLst>
        </pc:spChg>
        <pc:spChg chg="del">
          <ac:chgData name="Kelly Constanza Yubini Yubini" userId="S::kyubini@udec.cl::d04d973c-9196-461e-b158-9ba1046d1522" providerId="AD" clId="Web-{CEDB086C-AA20-4287-3B2E-D6EA631E046F}" dt="2025-11-12T18:44:19.788" v="526"/>
          <ac:spMkLst>
            <pc:docMk/>
            <pc:sldMk cId="908031499" sldId="356"/>
            <ac:spMk id="3" creationId="{F0A1ECE0-1B81-60FA-BAE7-E08266EF4F66}"/>
          </ac:spMkLst>
        </pc:spChg>
        <pc:picChg chg="add mod ord">
          <ac:chgData name="Kelly Constanza Yubini Yubini" userId="S::kyubini@udec.cl::d04d973c-9196-461e-b158-9ba1046d1522" providerId="AD" clId="Web-{CEDB086C-AA20-4287-3B2E-D6EA631E046F}" dt="2025-11-12T18:44:32.538" v="531" actId="1076"/>
          <ac:picMkLst>
            <pc:docMk/>
            <pc:sldMk cId="908031499" sldId="356"/>
            <ac:picMk id="4" creationId="{AB4C9D38-76DC-78DF-DD1F-FB66ED7830CA}"/>
          </ac:picMkLst>
        </pc:picChg>
      </pc:sldChg>
      <pc:sldChg chg="addSp delSp modSp add replId">
        <pc:chgData name="Kelly Constanza Yubini Yubini" userId="S::kyubini@udec.cl::d04d973c-9196-461e-b158-9ba1046d1522" providerId="AD" clId="Web-{CEDB086C-AA20-4287-3B2E-D6EA631E046F}" dt="2025-11-12T18:58:17.930" v="625" actId="1076"/>
        <pc:sldMkLst>
          <pc:docMk/>
          <pc:sldMk cId="1916438613" sldId="357"/>
        </pc:sldMkLst>
        <pc:spChg chg="mod">
          <ac:chgData name="Kelly Constanza Yubini Yubini" userId="S::kyubini@udec.cl::d04d973c-9196-461e-b158-9ba1046d1522" providerId="AD" clId="Web-{CEDB086C-AA20-4287-3B2E-D6EA631E046F}" dt="2025-11-12T18:57:08.023" v="613" actId="20577"/>
          <ac:spMkLst>
            <pc:docMk/>
            <pc:sldMk cId="1916438613" sldId="357"/>
            <ac:spMk id="3" creationId="{EDFAE6E5-BBD9-79E3-77F6-06427A7763BA}"/>
          </ac:spMkLst>
        </pc:spChg>
        <pc:picChg chg="del">
          <ac:chgData name="Kelly Constanza Yubini Yubini" userId="S::kyubini@udec.cl::d04d973c-9196-461e-b158-9ba1046d1522" providerId="AD" clId="Web-{CEDB086C-AA20-4287-3B2E-D6EA631E046F}" dt="2025-11-12T18:52:06.508" v="557"/>
          <ac:picMkLst>
            <pc:docMk/>
            <pc:sldMk cId="1916438613" sldId="357"/>
            <ac:picMk id="4" creationId="{82B7646D-1AAF-1456-607D-03C896515787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58:14.773" v="624" actId="1076"/>
          <ac:picMkLst>
            <pc:docMk/>
            <pc:sldMk cId="1916438613" sldId="357"/>
            <ac:picMk id="5" creationId="{3AB42BE8-A892-471A-B0F2-FB44A4BFE022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58:17.930" v="625" actId="1076"/>
          <ac:picMkLst>
            <pc:docMk/>
            <pc:sldMk cId="1916438613" sldId="357"/>
            <ac:picMk id="6" creationId="{4B155756-5A03-F325-0735-CE2A048A8A77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58:05.227" v="620" actId="1076"/>
          <ac:picMkLst>
            <pc:docMk/>
            <pc:sldMk cId="1916438613" sldId="357"/>
            <ac:picMk id="7" creationId="{08109B1C-370B-6E60-A390-2B19D7B32A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15CB-AE94-7E99-2A13-7A6022D9D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2AC6B-C98B-9F17-2874-C8FFFC619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CF18C-A87B-07E2-F363-B37D2061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885E-3EAA-42F7-2DA8-530E5FB6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D72B-694C-4B88-F00C-6448EF99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29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2E3F-C0C4-4F71-F808-DB06525C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557AA-B26A-028D-FCAE-B370D6E28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D78A5-D456-15F0-F469-5D5EBD13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96B5A-1150-21C9-D557-14FA26EB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65FF5-3B1C-D98C-37B3-75882C88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18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71F3-4CE5-A013-1235-CDD621BB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E5965-34C6-AFBB-5198-416E75F0D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DFB5F-F628-DEF4-F023-9F95FD96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270E-06A6-AD70-ECE7-2F4A9B09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F97B7-E471-C875-445D-A8011242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25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33BA-6DAB-48F6-D2E3-F3571159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536A-5E18-41F5-2DB5-692AC8AE6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58DA-819F-30F4-0916-DACB5451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18D1B-ABB2-B5FE-AFD5-D86A0227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2A857-5A71-7DAC-E0E4-1930D4CD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935F3-0FCD-45A4-AFDD-59DFFF0E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48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E013-1D44-45CC-CBA8-B3CC815E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7BAD8-21AA-D5ED-844E-4F403C3D6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0639D-3F5B-D8FF-DA05-D5EF2FE77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2C94D-001C-6F45-D84F-DCE284B88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E1570-FAFA-68F2-C735-B73EA93B4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F118B-88AA-1C16-5F38-D6E50C74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C0AA8-ABB1-886A-49E9-DA1D2272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1CD31-F812-1337-8DCA-90E56C25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070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1A4E-EBF1-521B-6D32-6F07023E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DDC10-B3EB-7C8C-C656-4CB0BAE0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12BAF-BA20-223E-E5FD-46E4CA6E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72F2B-88E4-0718-8775-95D4198D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382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27527-16E8-9B90-7EFC-DE1CF48C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3E731-2C49-0B29-5112-0126B6A2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A588B-D192-0EBE-98BF-03D7CE7A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778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394C-3F7A-FD1F-7563-FC721BA6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59BD-589E-626E-A92A-C707D1BA1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FE2E4-895A-39B5-BF23-5D6A6E030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519AE-6A03-146E-274F-0DC476D2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4691C-2BDE-3C91-B176-3D9E17D8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D14C0-4411-4E51-B280-22EBA8C9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809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EFA1-8FD1-BB66-6EB1-185F405C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A71E1-E1F6-3A37-ED44-931221DC9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1E7A0-54EE-D17B-058D-4D9F643AF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6514-82AB-74BE-212C-65243DD31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3948F-C565-54FF-10F1-79318224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03CFD-5023-2F3D-2E82-F4278DA0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6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6249-CDE6-8624-1B1C-7CCC93E8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908CD-E4D7-70F3-B96C-1979095D7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BDB09-FC71-BFFB-3311-308047D7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C7A25-FA72-A435-B091-B078A36D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7B966-3229-B9BF-9C90-360B61BD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64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AD274-4878-5940-3F90-3E1A90109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1B2B5-209A-458B-D896-ABECC82A8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9F9D5-B0FF-90FB-12E3-89338262C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83A49-C946-5761-8F6F-F4335989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771B-BCE3-B031-C133-9BF39E52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933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4FED0-4D83-C886-6A4F-5EAEBC25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3F8C2-5966-CD83-217C-0F191007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C0AB1-643C-FB2B-0FB6-A8960764B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7CB37-1078-4414-9ADD-A1CC037ED0B8}" type="datetimeFigureOut">
              <a:rPr lang="en-GB" smtClean="0"/>
              <a:t>22/09/2026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C8EEC-7690-C978-7BEC-AD7D31DB8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5744F-A909-7B28-90E1-BBC46F100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83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rD28m9BmXVs?utm_source=unsplash&amp;utm_medium=referral&amp;utm_content=creditCopyText" TargetMode="External"/><Relationship Id="rId2" Type="http://schemas.openxmlformats.org/officeDocument/2006/relationships/hyperlink" Target="https://unsplash.com/@yory?utm_source=unsplash&amp;utm_medium=referral&amp;utm_content=creditCopyTex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jkglMnByFM?feature=oembe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tagged/r" TargetMode="External"/><Relationship Id="rId2" Type="http://schemas.openxmlformats.org/officeDocument/2006/relationships/hyperlink" Target="https://cran.r-project.org/doc/contrib/R-intro-1.1.0-espanol.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wirldev/swirl_courses.git" TargetMode="External"/><Relationship Id="rId5" Type="http://schemas.openxmlformats.org/officeDocument/2006/relationships/hyperlink" Target="https://github.com/rladieschile/taller-introductorio-mayo/tree/master?tab=readme-ov-file" TargetMode="External"/><Relationship Id="rId4" Type="http://schemas.openxmlformats.org/officeDocument/2006/relationships/hyperlink" Target="https://github.com/search?q=tidyverse++language%3AR&amp;type=repositories&amp;l=R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osit.co/download/rstudio-deskto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4D85-87FD-C747-D1CC-B27298821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1700"/>
            <a:ext cx="9144000" cy="2308695"/>
          </a:xfrm>
          <a:solidFill>
            <a:srgbClr val="F2F2F2">
              <a:alpha val="50196"/>
            </a:srgbClr>
          </a:solidFill>
        </p:spPr>
        <p:txBody>
          <a:bodyPr anchor="ctr">
            <a:normAutofit/>
          </a:bodyPr>
          <a:lstStyle/>
          <a:p>
            <a:r>
              <a:rPr lang="es-CL" dirty="0" err="1"/>
              <a:t>An</a:t>
            </a:r>
            <a:r>
              <a:rPr lang="es-ES" dirty="0" err="1"/>
              <a:t>álisis</a:t>
            </a:r>
            <a:r>
              <a:rPr lang="es-ES" dirty="0"/>
              <a:t> socioespacial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9240B-EA41-47A8-6573-0827151E8866}"/>
              </a:ext>
            </a:extLst>
          </p:cNvPr>
          <p:cNvSpPr txBox="1"/>
          <p:nvPr/>
        </p:nvSpPr>
        <p:spPr>
          <a:xfrm>
            <a:off x="9840407" y="6604405"/>
            <a:ext cx="2165807" cy="253595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00" dirty="0"/>
              <a:t>Photo by </a:t>
            </a:r>
            <a:r>
              <a:rPr lang="en-GB" sz="1000" dirty="0">
                <a:hlinkClick r:id="rId2"/>
              </a:rPr>
              <a:t>Ryo </a:t>
            </a:r>
            <a:r>
              <a:rPr lang="en-GB" sz="1000" dirty="0" err="1">
                <a:hlinkClick r:id="rId2"/>
              </a:rPr>
              <a:t>Yoshitake</a:t>
            </a:r>
            <a:r>
              <a:rPr lang="en-GB" sz="1000" dirty="0"/>
              <a:t> on </a:t>
            </a:r>
            <a:r>
              <a:rPr lang="en-GB" sz="1000" dirty="0" err="1">
                <a:hlinkClick r:id="rId3"/>
              </a:rPr>
              <a:t>Unsplash</a:t>
            </a:r>
            <a:r>
              <a:rPr lang="en-GB" sz="10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029FBC-602E-33E8-FC26-236E8FB2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84" y="288148"/>
            <a:ext cx="899018" cy="11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A40F6EC-0593-F6EA-D899-A63E26A4D914}"/>
              </a:ext>
            </a:extLst>
          </p:cNvPr>
          <p:cNvSpPr txBox="1">
            <a:spLocks/>
          </p:cNvSpPr>
          <p:nvPr/>
        </p:nvSpPr>
        <p:spPr>
          <a:xfrm>
            <a:off x="4836795" y="5034260"/>
            <a:ext cx="2518410" cy="338760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400" dirty="0"/>
              <a:t>Kelly Yubini Y.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1748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EAF98-9861-8408-CBB0-DC802B66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4D235A9C-22CC-2948-1605-7F2B598EDC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75F08F-6B38-1FD3-3BD6-E1A4E5B6E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¿Por qué aprender un lenguaje de programación?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34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79DFB-A56E-2327-C860-6C6A3CC2F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sz="4000" dirty="0"/>
              <a:t>GRATUITOS </a:t>
            </a:r>
          </a:p>
          <a:p>
            <a:r>
              <a:rPr lang="es-CL" sz="4000" dirty="0"/>
              <a:t>ABIERTOS</a:t>
            </a:r>
          </a:p>
          <a:p>
            <a:r>
              <a:rPr lang="es-CL" sz="4000" dirty="0"/>
              <a:t>INDEPENDIENTES</a:t>
            </a:r>
          </a:p>
          <a:p>
            <a:r>
              <a:rPr lang="es-CL" sz="4000" dirty="0"/>
              <a:t>REPRODUCTIVILIDAD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B4975-CA5D-6E7D-3193-63FCA119B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97" y="1524000"/>
            <a:ext cx="5724625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5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algoritmo sandwich">
            <a:hlinkClick r:id="" action="ppaction://noaction"/>
            <a:extLst>
              <a:ext uri="{FF2B5EF4-FFF2-40B4-BE49-F238E27FC236}">
                <a16:creationId xmlns:a16="http://schemas.microsoft.com/office/drawing/2014/main" id="{AB4C9D38-76DC-78DF-DD1F-FB66ED7830C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93007" y="351757"/>
            <a:ext cx="7946355" cy="596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3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0D44-C6EE-C2DF-CE49-12AD8C8C7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DDCC3611-F309-DB32-4681-FD82617724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6E5F4-F7D6-2316-2FF4-D5104A248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¿Qué es R?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129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2427-C6A6-5CFA-3F98-3B807456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70D7-22F4-47B6-9DEB-3DEDB5BD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 (?)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2C493-C004-619A-AB88-70C7F2A59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dirty="0"/>
              <a:t>Lenguaje de programación que se deriva de </a:t>
            </a:r>
            <a:r>
              <a:rPr lang="es-CL" b="1" dirty="0"/>
              <a:t>S </a:t>
            </a:r>
            <a:r>
              <a:rPr lang="es-CL" dirty="0"/>
              <a:t>(otro lenguaje de programación).</a:t>
            </a:r>
          </a:p>
          <a:p>
            <a:pPr algn="just"/>
            <a:r>
              <a:rPr lang="es-CL" dirty="0"/>
              <a:t>Énfasis en la aplicación estadística, la generación de informes y gráficos.</a:t>
            </a:r>
          </a:p>
          <a:p>
            <a:pPr algn="just"/>
            <a:r>
              <a:rPr lang="es-CL" dirty="0"/>
              <a:t>Lenguaje de programación orientado a </a:t>
            </a:r>
            <a:r>
              <a:rPr lang="es-CL" b="1" dirty="0"/>
              <a:t>objetos</a:t>
            </a:r>
          </a:p>
          <a:p>
            <a:pPr lvl="1" algn="just"/>
            <a:r>
              <a:rPr lang="es-CL" b="1" dirty="0"/>
              <a:t>Datos y código / Campos y procedimientos</a:t>
            </a:r>
          </a:p>
          <a:p>
            <a:pPr algn="just"/>
            <a:r>
              <a:rPr lang="es-CL" dirty="0"/>
              <a:t>Filosofía del lenguaje está en el ecosistema y en la creación de funciones.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30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9C4C-9203-AEB7-4A32-DB4B5E4D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BFF9-FE97-1D78-641A-8368AC52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 (?) – Algunas ventajas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6DCD0-A340-D776-725F-17FE3BF92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2071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s-CL" dirty="0"/>
              <a:t>Licencia GNU General </a:t>
            </a:r>
            <a:r>
              <a:rPr lang="es-CL" dirty="0" err="1"/>
              <a:t>Public</a:t>
            </a:r>
            <a:r>
              <a:rPr lang="es-CL" dirty="0"/>
              <a:t> </a:t>
            </a:r>
            <a:r>
              <a:rPr lang="es-CL" dirty="0" err="1"/>
              <a:t>License</a:t>
            </a:r>
            <a:r>
              <a:rPr lang="es-CL" dirty="0"/>
              <a:t> – Es gratuito y abierto</a:t>
            </a:r>
          </a:p>
          <a:p>
            <a:r>
              <a:rPr lang="es-CL" dirty="0"/>
              <a:t>Lenguaje efectivo y sencillo de leer</a:t>
            </a:r>
          </a:p>
          <a:p>
            <a:r>
              <a:rPr lang="es-CL" dirty="0"/>
              <a:t>Manejo de grandes volúmenes de datos – Limitado a la potencia de cálculo del equipo</a:t>
            </a:r>
          </a:p>
          <a:p>
            <a:r>
              <a:rPr lang="es-CL" dirty="0"/>
              <a:t>Rápido en la ejecución (Opera en la RAM)</a:t>
            </a:r>
          </a:p>
          <a:p>
            <a:r>
              <a:rPr lang="es-CL" dirty="0"/>
              <a:t>Comunidad </a:t>
            </a:r>
          </a:p>
          <a:p>
            <a:r>
              <a:rPr lang="es-CL" dirty="0"/>
              <a:t>Replicabilidad para fines científicos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4EF59-85EC-DD17-8715-22E253F9F3F3}"/>
              </a:ext>
            </a:extLst>
          </p:cNvPr>
          <p:cNvSpPr txBox="1"/>
          <p:nvPr/>
        </p:nvSpPr>
        <p:spPr>
          <a:xfrm>
            <a:off x="715617" y="4780721"/>
            <a:ext cx="83157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2"/>
              </a:rPr>
              <a:t>https://cran.r-project.org/doc/contrib/R-intro-1.1.0-espanol.1.pdf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135ED-8CFF-BE99-C324-81F13A2917F6}"/>
              </a:ext>
            </a:extLst>
          </p:cNvPr>
          <p:cNvSpPr txBox="1"/>
          <p:nvPr/>
        </p:nvSpPr>
        <p:spPr>
          <a:xfrm>
            <a:off x="715617" y="5105400"/>
            <a:ext cx="96740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https://stackoverflow.com/questions/tagged/r</a:t>
            </a:r>
            <a:endParaRPr lang="en-US"/>
          </a:p>
          <a:p>
            <a:r>
              <a:rPr lang="en-US" dirty="0">
                <a:ea typeface="+mn-lt"/>
                <a:cs typeface="+mn-lt"/>
                <a:hlinkClick r:id="rId4"/>
              </a:rPr>
              <a:t>https://github.com/search?q=tidyverse++language%3AR&amp;type=repositories&amp;l=R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00014-FF7C-ED4E-74AC-F14C63EC68F4}"/>
              </a:ext>
            </a:extLst>
          </p:cNvPr>
          <p:cNvSpPr txBox="1"/>
          <p:nvPr/>
        </p:nvSpPr>
        <p:spPr>
          <a:xfrm>
            <a:off x="715617" y="5668618"/>
            <a:ext cx="100583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5"/>
              </a:rPr>
              <a:t>https://github.com/rladieschile/taller-introductorio-mayo/tree/master?tab=readme-ov-file</a:t>
            </a:r>
            <a:endParaRPr lang="en-US"/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1542D-2000-CB50-B68A-C990C59EA8A2}"/>
              </a:ext>
            </a:extLst>
          </p:cNvPr>
          <p:cNvSpPr txBox="1"/>
          <p:nvPr/>
        </p:nvSpPr>
        <p:spPr>
          <a:xfrm>
            <a:off x="715617" y="599329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6"/>
              </a:rPr>
              <a:t>https://github.com/swirldev/swirl_courses.git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AED6-8A19-DF66-BD0C-CF250B64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 (?) – Algunas desventajas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AC1B1-5919-C826-22E4-97EE01DAA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dirty="0"/>
              <a:t>Utiliza un solo núcleo del procesador (¡pero existe la paralelización!)</a:t>
            </a:r>
          </a:p>
          <a:p>
            <a:pPr algn="just"/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intuitiva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de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competidores</a:t>
            </a:r>
            <a:r>
              <a:rPr lang="en-US" dirty="0"/>
              <a:t> (SPSS) </a:t>
            </a:r>
            <a:r>
              <a:rPr lang="en-US" dirty="0" err="1"/>
              <a:t>en</a:t>
            </a:r>
            <a:r>
              <a:rPr lang="en-US" dirty="0"/>
              <a:t> R Studio.</a:t>
            </a:r>
          </a:p>
        </p:txBody>
      </p:sp>
    </p:spTree>
    <p:extLst>
      <p:ext uri="{BB962C8B-B14F-4D97-AF65-F5344CB8AC3E}">
        <p14:creationId xmlns:p14="http://schemas.microsoft.com/office/powerpoint/2010/main" val="402111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4C8A36-8E37-E873-DC5C-F17E7420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74" y="0"/>
            <a:ext cx="1160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0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EF3C-1A22-73A8-0665-33BB21E2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Sin embargo… ¡R Studio nos ayuda con esto!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B6B9F-C62B-A426-C7B6-E03C45AA5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/>
              <a:t>R Studio es también de acceso libre</a:t>
            </a:r>
          </a:p>
          <a:p>
            <a:r>
              <a:rPr lang="es-CL"/>
              <a:t>Interfaz más amigable</a:t>
            </a:r>
          </a:p>
          <a:p>
            <a:r>
              <a:rPr lang="es-CL"/>
              <a:t>Fácil instalación de paquetes estadísticos</a:t>
            </a:r>
          </a:p>
          <a:p>
            <a:r>
              <a:rPr lang="es-CL"/>
              <a:t>Fácil administración de proyectos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D0F56-53EC-12C0-D2F1-CCF573FDA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927" y="3807995"/>
            <a:ext cx="5650833" cy="286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1181-8703-4069-5491-923B878C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A234-20A4-E13C-4B5E-ABB338F2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Sin embargo… ¡R Studio nos ayuda con esto!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AE6E5-BBD9-79E3-77F6-06427A776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165629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/>
              <a:t>Diferentes perfiles </a:t>
            </a:r>
          </a:p>
          <a:p>
            <a:r>
              <a:rPr lang="es-CL"/>
              <a:t>Visualización de datos</a:t>
            </a:r>
          </a:p>
          <a:p>
            <a:r>
              <a:rPr lang="es-CL" dirty="0"/>
              <a:t>Flujo completo de trabajo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42BE8-A892-471A-B0F2-FB44A4BFE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85" y="3585745"/>
            <a:ext cx="3326341" cy="289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109B1C-370B-6E60-A390-2B19D7B32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675" y="1476905"/>
            <a:ext cx="6004984" cy="22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D3E4-913A-55B7-14F2-601D07F5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5ABE-918F-82E1-6D19-A8EB4169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Buenas prácticas para en programación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FAF1C-6DFF-E656-0B54-A4B0A2DED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0" y="134556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CL" dirty="0"/>
              <a:t>Que tu código sea lo más </a:t>
            </a:r>
            <a:r>
              <a:rPr lang="es-CL" dirty="0" err="1"/>
              <a:t>autoexplicativo</a:t>
            </a:r>
            <a:r>
              <a:rPr lang="es-CL" dirty="0"/>
              <a:t> posible, ¡evita redundar!</a:t>
            </a:r>
            <a:endParaRPr lang="en-US" dirty="0"/>
          </a:p>
          <a:p>
            <a:pPr algn="just"/>
            <a:r>
              <a:rPr lang="es-CL" dirty="0"/>
              <a:t>Hacer sangrías, usar espacios.</a:t>
            </a:r>
          </a:p>
          <a:p>
            <a:pPr algn="just"/>
            <a:r>
              <a:rPr lang="es-CL" dirty="0"/>
              <a:t>Hacer carpetas y subcarpetas, y numerar los scripts se considera una buena práctica... ¡sobre todo si tu proyecto es grande!</a:t>
            </a:r>
          </a:p>
          <a:p>
            <a:pPr algn="just"/>
            <a:endParaRPr lang="es-CL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C5C1F-F01D-3979-EC34-835D5B4C5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526" y="3427793"/>
            <a:ext cx="5379720" cy="2893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9B1397-EF3B-F5E0-5CAD-703C23F1B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52" y="3375660"/>
            <a:ext cx="4350277" cy="30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0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1130D23A-FF00-32B4-A85A-15CA50069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/>
              <a:t>R Studio, manejo e interfaz de proyectos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9807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A0922AF9-ADF7-354B-27AF-AE763A98E1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/>
              <a:t>Interfaz de R Studio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032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F0A9-C81B-6ED8-EE41-A8765DD4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descargar R y R Studio?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FBD3-5D53-6055-E139-BFE33C66E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10840" cy="4351338"/>
          </a:xfrm>
        </p:spPr>
        <p:txBody>
          <a:bodyPr/>
          <a:lstStyle/>
          <a:p>
            <a:r>
              <a:rPr lang="es-ES" dirty="0"/>
              <a:t>R se puede descargar a través de “espejos” en la red o desde la página de </a:t>
            </a:r>
            <a:r>
              <a:rPr lang="es-ES" dirty="0" err="1"/>
              <a:t>Posit</a:t>
            </a:r>
            <a:r>
              <a:rPr lang="es-ES" dirty="0"/>
              <a:t>.</a:t>
            </a:r>
          </a:p>
          <a:p>
            <a:pPr lvl="1"/>
            <a:r>
              <a:rPr lang="en-GB" dirty="0">
                <a:hlinkClick r:id="rId2"/>
              </a:rPr>
              <a:t>RStudio Desktop – Posit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CBEC7-82CF-F083-FC96-6E4AFF52D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388" y="2525967"/>
            <a:ext cx="7340999" cy="3650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BD79DB-FE57-16E5-2079-009D5BC93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977" y="1659775"/>
            <a:ext cx="6305823" cy="468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9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73AC4-01C6-414A-C194-24098046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44"/>
            <a:ext cx="12192000" cy="65321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5610A6-CE43-9AF9-DBC1-046316A8C7E1}"/>
              </a:ext>
            </a:extLst>
          </p:cNvPr>
          <p:cNvSpPr/>
          <p:nvPr/>
        </p:nvSpPr>
        <p:spPr>
          <a:xfrm>
            <a:off x="64008" y="630936"/>
            <a:ext cx="7607808" cy="6064119"/>
          </a:xfrm>
          <a:custGeom>
            <a:avLst/>
            <a:gdLst>
              <a:gd name="csX0" fmla="*/ 0 w 7607808"/>
              <a:gd name="csY0" fmla="*/ 0 h 6064119"/>
              <a:gd name="csX1" fmla="*/ 585216 w 7607808"/>
              <a:gd name="csY1" fmla="*/ 0 h 6064119"/>
              <a:gd name="csX2" fmla="*/ 1246510 w 7607808"/>
              <a:gd name="csY2" fmla="*/ 0 h 6064119"/>
              <a:gd name="csX3" fmla="*/ 1831726 w 7607808"/>
              <a:gd name="csY3" fmla="*/ 0 h 6064119"/>
              <a:gd name="csX4" fmla="*/ 2416942 w 7607808"/>
              <a:gd name="csY4" fmla="*/ 0 h 6064119"/>
              <a:gd name="csX5" fmla="*/ 3078236 w 7607808"/>
              <a:gd name="csY5" fmla="*/ 0 h 6064119"/>
              <a:gd name="csX6" fmla="*/ 3587374 w 7607808"/>
              <a:gd name="csY6" fmla="*/ 0 h 6064119"/>
              <a:gd name="csX7" fmla="*/ 3944356 w 7607808"/>
              <a:gd name="csY7" fmla="*/ 0 h 6064119"/>
              <a:gd name="csX8" fmla="*/ 4681728 w 7607808"/>
              <a:gd name="csY8" fmla="*/ 0 h 6064119"/>
              <a:gd name="csX9" fmla="*/ 5114788 w 7607808"/>
              <a:gd name="csY9" fmla="*/ 0 h 6064119"/>
              <a:gd name="csX10" fmla="*/ 5700004 w 7607808"/>
              <a:gd name="csY10" fmla="*/ 0 h 6064119"/>
              <a:gd name="csX11" fmla="*/ 6361298 w 7607808"/>
              <a:gd name="csY11" fmla="*/ 0 h 6064119"/>
              <a:gd name="csX12" fmla="*/ 6794358 w 7607808"/>
              <a:gd name="csY12" fmla="*/ 0 h 6064119"/>
              <a:gd name="csX13" fmla="*/ 7607808 w 7607808"/>
              <a:gd name="csY13" fmla="*/ 0 h 6064119"/>
              <a:gd name="csX14" fmla="*/ 7607808 w 7607808"/>
              <a:gd name="csY14" fmla="*/ 672566 h 6064119"/>
              <a:gd name="csX15" fmla="*/ 7607808 w 7607808"/>
              <a:gd name="csY15" fmla="*/ 1041926 h 6064119"/>
              <a:gd name="csX16" fmla="*/ 7607808 w 7607808"/>
              <a:gd name="csY16" fmla="*/ 1653851 h 6064119"/>
              <a:gd name="csX17" fmla="*/ 7607808 w 7607808"/>
              <a:gd name="csY17" fmla="*/ 2265775 h 6064119"/>
              <a:gd name="csX18" fmla="*/ 7607808 w 7607808"/>
              <a:gd name="csY18" fmla="*/ 2938341 h 6064119"/>
              <a:gd name="csX19" fmla="*/ 7607808 w 7607808"/>
              <a:gd name="csY19" fmla="*/ 3610907 h 6064119"/>
              <a:gd name="csX20" fmla="*/ 7607808 w 7607808"/>
              <a:gd name="csY20" fmla="*/ 4283473 h 6064119"/>
              <a:gd name="csX21" fmla="*/ 7607808 w 7607808"/>
              <a:gd name="csY21" fmla="*/ 4652833 h 6064119"/>
              <a:gd name="csX22" fmla="*/ 7607808 w 7607808"/>
              <a:gd name="csY22" fmla="*/ 5204117 h 6064119"/>
              <a:gd name="csX23" fmla="*/ 7607808 w 7607808"/>
              <a:gd name="csY23" fmla="*/ 6064119 h 6064119"/>
              <a:gd name="csX24" fmla="*/ 7022592 w 7607808"/>
              <a:gd name="csY24" fmla="*/ 6064119 h 6064119"/>
              <a:gd name="csX25" fmla="*/ 6589532 w 7607808"/>
              <a:gd name="csY25" fmla="*/ 6064119 h 6064119"/>
              <a:gd name="csX26" fmla="*/ 5852160 w 7607808"/>
              <a:gd name="csY26" fmla="*/ 6064119 h 6064119"/>
              <a:gd name="csX27" fmla="*/ 5266944 w 7607808"/>
              <a:gd name="csY27" fmla="*/ 6064119 h 6064119"/>
              <a:gd name="csX28" fmla="*/ 4681728 w 7607808"/>
              <a:gd name="csY28" fmla="*/ 6064119 h 6064119"/>
              <a:gd name="csX29" fmla="*/ 3944356 w 7607808"/>
              <a:gd name="csY29" fmla="*/ 6064119 h 6064119"/>
              <a:gd name="csX30" fmla="*/ 3283062 w 7607808"/>
              <a:gd name="csY30" fmla="*/ 6064119 h 6064119"/>
              <a:gd name="csX31" fmla="*/ 2545690 w 7607808"/>
              <a:gd name="csY31" fmla="*/ 6064119 h 6064119"/>
              <a:gd name="csX32" fmla="*/ 2036552 w 7607808"/>
              <a:gd name="csY32" fmla="*/ 6064119 h 6064119"/>
              <a:gd name="csX33" fmla="*/ 1527414 w 7607808"/>
              <a:gd name="csY33" fmla="*/ 6064119 h 6064119"/>
              <a:gd name="csX34" fmla="*/ 790042 w 7607808"/>
              <a:gd name="csY34" fmla="*/ 6064119 h 6064119"/>
              <a:gd name="csX35" fmla="*/ 0 w 7607808"/>
              <a:gd name="csY35" fmla="*/ 6064119 h 6064119"/>
              <a:gd name="csX36" fmla="*/ 0 w 7607808"/>
              <a:gd name="csY36" fmla="*/ 5634118 h 6064119"/>
              <a:gd name="csX37" fmla="*/ 0 w 7607808"/>
              <a:gd name="csY37" fmla="*/ 4961552 h 6064119"/>
              <a:gd name="csX38" fmla="*/ 0 w 7607808"/>
              <a:gd name="csY38" fmla="*/ 4288986 h 6064119"/>
              <a:gd name="csX39" fmla="*/ 0 w 7607808"/>
              <a:gd name="csY39" fmla="*/ 3798344 h 6064119"/>
              <a:gd name="csX40" fmla="*/ 0 w 7607808"/>
              <a:gd name="csY40" fmla="*/ 3125778 h 6064119"/>
              <a:gd name="csX41" fmla="*/ 0 w 7607808"/>
              <a:gd name="csY41" fmla="*/ 2635135 h 6064119"/>
              <a:gd name="csX42" fmla="*/ 0 w 7607808"/>
              <a:gd name="csY42" fmla="*/ 2083852 h 6064119"/>
              <a:gd name="csX43" fmla="*/ 0 w 7607808"/>
              <a:gd name="csY43" fmla="*/ 1593209 h 6064119"/>
              <a:gd name="csX44" fmla="*/ 0 w 7607808"/>
              <a:gd name="csY44" fmla="*/ 981285 h 6064119"/>
              <a:gd name="csX45" fmla="*/ 0 w 7607808"/>
              <a:gd name="csY45" fmla="*/ 0 h 6064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7607808" h="6064119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68697" y="320537"/>
                  <a:pt x="7555989" y="466559"/>
                  <a:pt x="7607808" y="672566"/>
                </a:cubicBezTo>
                <a:cubicBezTo>
                  <a:pt x="7659627" y="878573"/>
                  <a:pt x="7599577" y="952961"/>
                  <a:pt x="7607808" y="1041926"/>
                </a:cubicBezTo>
                <a:cubicBezTo>
                  <a:pt x="7616039" y="1130891"/>
                  <a:pt x="7537333" y="1402629"/>
                  <a:pt x="7607808" y="1653851"/>
                </a:cubicBezTo>
                <a:cubicBezTo>
                  <a:pt x="7678283" y="1905074"/>
                  <a:pt x="7606929" y="2022333"/>
                  <a:pt x="7607808" y="2265775"/>
                </a:cubicBezTo>
                <a:cubicBezTo>
                  <a:pt x="7608687" y="2509217"/>
                  <a:pt x="7529775" y="2652995"/>
                  <a:pt x="7607808" y="2938341"/>
                </a:cubicBezTo>
                <a:cubicBezTo>
                  <a:pt x="7685841" y="3223687"/>
                  <a:pt x="7585483" y="3313548"/>
                  <a:pt x="7607808" y="3610907"/>
                </a:cubicBezTo>
                <a:cubicBezTo>
                  <a:pt x="7630133" y="3908266"/>
                  <a:pt x="7595013" y="4002728"/>
                  <a:pt x="7607808" y="4283473"/>
                </a:cubicBezTo>
                <a:cubicBezTo>
                  <a:pt x="7620603" y="4564218"/>
                  <a:pt x="7570323" y="4568400"/>
                  <a:pt x="7607808" y="4652833"/>
                </a:cubicBezTo>
                <a:cubicBezTo>
                  <a:pt x="7645293" y="4737266"/>
                  <a:pt x="7553111" y="5066062"/>
                  <a:pt x="7607808" y="5204117"/>
                </a:cubicBezTo>
                <a:cubicBezTo>
                  <a:pt x="7662505" y="5342172"/>
                  <a:pt x="7561576" y="5751471"/>
                  <a:pt x="7607808" y="6064119"/>
                </a:cubicBezTo>
                <a:cubicBezTo>
                  <a:pt x="7383990" y="6070559"/>
                  <a:pt x="7313171" y="6019835"/>
                  <a:pt x="7022592" y="6064119"/>
                </a:cubicBezTo>
                <a:cubicBezTo>
                  <a:pt x="6732013" y="6108403"/>
                  <a:pt x="6728871" y="6021179"/>
                  <a:pt x="6589532" y="6064119"/>
                </a:cubicBezTo>
                <a:cubicBezTo>
                  <a:pt x="6450193" y="6107059"/>
                  <a:pt x="6116306" y="5978139"/>
                  <a:pt x="5852160" y="6064119"/>
                </a:cubicBezTo>
                <a:cubicBezTo>
                  <a:pt x="5588014" y="6150099"/>
                  <a:pt x="5468019" y="6050262"/>
                  <a:pt x="5266944" y="6064119"/>
                </a:cubicBezTo>
                <a:cubicBezTo>
                  <a:pt x="5065869" y="6077976"/>
                  <a:pt x="4904238" y="5994492"/>
                  <a:pt x="4681728" y="6064119"/>
                </a:cubicBezTo>
                <a:cubicBezTo>
                  <a:pt x="4459218" y="6133746"/>
                  <a:pt x="4149071" y="6057238"/>
                  <a:pt x="3944356" y="6064119"/>
                </a:cubicBezTo>
                <a:cubicBezTo>
                  <a:pt x="3739641" y="6071000"/>
                  <a:pt x="3572061" y="6015262"/>
                  <a:pt x="3283062" y="6064119"/>
                </a:cubicBezTo>
                <a:cubicBezTo>
                  <a:pt x="2994063" y="6112976"/>
                  <a:pt x="2803598" y="6035814"/>
                  <a:pt x="2545690" y="6064119"/>
                </a:cubicBezTo>
                <a:cubicBezTo>
                  <a:pt x="2287782" y="6092424"/>
                  <a:pt x="2291025" y="6060570"/>
                  <a:pt x="2036552" y="6064119"/>
                </a:cubicBezTo>
                <a:cubicBezTo>
                  <a:pt x="1782079" y="6067668"/>
                  <a:pt x="1650347" y="6032532"/>
                  <a:pt x="1527414" y="6064119"/>
                </a:cubicBezTo>
                <a:cubicBezTo>
                  <a:pt x="1404481" y="6095706"/>
                  <a:pt x="1093911" y="5991745"/>
                  <a:pt x="790042" y="6064119"/>
                </a:cubicBezTo>
                <a:cubicBezTo>
                  <a:pt x="486173" y="6136493"/>
                  <a:pt x="386530" y="6054904"/>
                  <a:pt x="0" y="6064119"/>
                </a:cubicBezTo>
                <a:cubicBezTo>
                  <a:pt x="-29773" y="5960079"/>
                  <a:pt x="23899" y="5845858"/>
                  <a:pt x="0" y="5634118"/>
                </a:cubicBezTo>
                <a:cubicBezTo>
                  <a:pt x="-23899" y="5422378"/>
                  <a:pt x="63894" y="5258553"/>
                  <a:pt x="0" y="4961552"/>
                </a:cubicBezTo>
                <a:cubicBezTo>
                  <a:pt x="-63894" y="4664551"/>
                  <a:pt x="3934" y="4556144"/>
                  <a:pt x="0" y="4288986"/>
                </a:cubicBezTo>
                <a:cubicBezTo>
                  <a:pt x="-3934" y="4021828"/>
                  <a:pt x="40819" y="3979863"/>
                  <a:pt x="0" y="3798344"/>
                </a:cubicBezTo>
                <a:cubicBezTo>
                  <a:pt x="-40819" y="3616825"/>
                  <a:pt x="61523" y="3423739"/>
                  <a:pt x="0" y="3125778"/>
                </a:cubicBezTo>
                <a:cubicBezTo>
                  <a:pt x="-61523" y="2827817"/>
                  <a:pt x="22899" y="2825130"/>
                  <a:pt x="0" y="2635135"/>
                </a:cubicBezTo>
                <a:cubicBezTo>
                  <a:pt x="-22899" y="2445140"/>
                  <a:pt x="33766" y="2331165"/>
                  <a:pt x="0" y="2083852"/>
                </a:cubicBezTo>
                <a:cubicBezTo>
                  <a:pt x="-33766" y="1836539"/>
                  <a:pt x="14845" y="1787345"/>
                  <a:pt x="0" y="1593209"/>
                </a:cubicBezTo>
                <a:cubicBezTo>
                  <a:pt x="-14845" y="1399073"/>
                  <a:pt x="8685" y="1108308"/>
                  <a:pt x="0" y="981285"/>
                </a:cubicBezTo>
                <a:cubicBezTo>
                  <a:pt x="-8685" y="854262"/>
                  <a:pt x="15891" y="20600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3EAF8-CFEE-9742-8345-2EA191BF3F99}"/>
              </a:ext>
            </a:extLst>
          </p:cNvPr>
          <p:cNvSpPr txBox="1"/>
          <p:nvPr/>
        </p:nvSpPr>
        <p:spPr>
          <a:xfrm>
            <a:off x="4178808" y="5394960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Consola en la que se puede introducir código y también devuelve los resultados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836E1-09EC-AF56-3466-BB84DF89334F}"/>
              </a:ext>
            </a:extLst>
          </p:cNvPr>
          <p:cNvSpPr/>
          <p:nvPr/>
        </p:nvSpPr>
        <p:spPr>
          <a:xfrm>
            <a:off x="7735824" y="630936"/>
            <a:ext cx="4456176" cy="3438144"/>
          </a:xfrm>
          <a:custGeom>
            <a:avLst/>
            <a:gdLst>
              <a:gd name="csX0" fmla="*/ 0 w 4456176"/>
              <a:gd name="csY0" fmla="*/ 0 h 3438144"/>
              <a:gd name="csX1" fmla="*/ 557022 w 4456176"/>
              <a:gd name="csY1" fmla="*/ 0 h 3438144"/>
              <a:gd name="csX2" fmla="*/ 1158606 w 4456176"/>
              <a:gd name="csY2" fmla="*/ 0 h 3438144"/>
              <a:gd name="csX3" fmla="*/ 1715628 w 4456176"/>
              <a:gd name="csY3" fmla="*/ 0 h 3438144"/>
              <a:gd name="csX4" fmla="*/ 2272650 w 4456176"/>
              <a:gd name="csY4" fmla="*/ 0 h 3438144"/>
              <a:gd name="csX5" fmla="*/ 2874234 w 4456176"/>
              <a:gd name="csY5" fmla="*/ 0 h 3438144"/>
              <a:gd name="csX6" fmla="*/ 3386694 w 4456176"/>
              <a:gd name="csY6" fmla="*/ 0 h 3438144"/>
              <a:gd name="csX7" fmla="*/ 3810030 w 4456176"/>
              <a:gd name="csY7" fmla="*/ 0 h 3438144"/>
              <a:gd name="csX8" fmla="*/ 4456176 w 4456176"/>
              <a:gd name="csY8" fmla="*/ 0 h 3438144"/>
              <a:gd name="csX9" fmla="*/ 4456176 w 4456176"/>
              <a:gd name="csY9" fmla="*/ 504261 h 3438144"/>
              <a:gd name="csX10" fmla="*/ 4456176 w 4456176"/>
              <a:gd name="csY10" fmla="*/ 1008522 h 3438144"/>
              <a:gd name="csX11" fmla="*/ 4456176 w 4456176"/>
              <a:gd name="csY11" fmla="*/ 1581546 h 3438144"/>
              <a:gd name="csX12" fmla="*/ 4456176 w 4456176"/>
              <a:gd name="csY12" fmla="*/ 2120189 h 3438144"/>
              <a:gd name="csX13" fmla="*/ 4456176 w 4456176"/>
              <a:gd name="csY13" fmla="*/ 2693213 h 3438144"/>
              <a:gd name="csX14" fmla="*/ 4456176 w 4456176"/>
              <a:gd name="csY14" fmla="*/ 3438144 h 3438144"/>
              <a:gd name="csX15" fmla="*/ 4032839 w 4456176"/>
              <a:gd name="csY15" fmla="*/ 3438144 h 3438144"/>
              <a:gd name="csX16" fmla="*/ 3386694 w 4456176"/>
              <a:gd name="csY16" fmla="*/ 3438144 h 3438144"/>
              <a:gd name="csX17" fmla="*/ 2785110 w 4456176"/>
              <a:gd name="csY17" fmla="*/ 3438144 h 3438144"/>
              <a:gd name="csX18" fmla="*/ 2272650 w 4456176"/>
              <a:gd name="csY18" fmla="*/ 3438144 h 3438144"/>
              <a:gd name="csX19" fmla="*/ 1715628 w 4456176"/>
              <a:gd name="csY19" fmla="*/ 3438144 h 3438144"/>
              <a:gd name="csX20" fmla="*/ 1069482 w 4456176"/>
              <a:gd name="csY20" fmla="*/ 3438144 h 3438144"/>
              <a:gd name="csX21" fmla="*/ 0 w 4456176"/>
              <a:gd name="csY21" fmla="*/ 3438144 h 3438144"/>
              <a:gd name="csX22" fmla="*/ 0 w 4456176"/>
              <a:gd name="csY22" fmla="*/ 2830739 h 3438144"/>
              <a:gd name="csX23" fmla="*/ 0 w 4456176"/>
              <a:gd name="csY23" fmla="*/ 2360859 h 3438144"/>
              <a:gd name="csX24" fmla="*/ 0 w 4456176"/>
              <a:gd name="csY24" fmla="*/ 1787835 h 3438144"/>
              <a:gd name="csX25" fmla="*/ 0 w 4456176"/>
              <a:gd name="csY25" fmla="*/ 1214811 h 3438144"/>
              <a:gd name="csX26" fmla="*/ 0 w 4456176"/>
              <a:gd name="csY26" fmla="*/ 710550 h 3438144"/>
              <a:gd name="csX27" fmla="*/ 0 w 4456176"/>
              <a:gd name="csY27" fmla="*/ 0 h 343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456176" h="3438144" extrusionOk="0">
                <a:moveTo>
                  <a:pt x="0" y="0"/>
                </a:moveTo>
                <a:cubicBezTo>
                  <a:pt x="273773" y="-55943"/>
                  <a:pt x="303461" y="828"/>
                  <a:pt x="557022" y="0"/>
                </a:cubicBezTo>
                <a:cubicBezTo>
                  <a:pt x="810583" y="-828"/>
                  <a:pt x="947319" y="5713"/>
                  <a:pt x="1158606" y="0"/>
                </a:cubicBezTo>
                <a:cubicBezTo>
                  <a:pt x="1369893" y="-5713"/>
                  <a:pt x="1495976" y="15251"/>
                  <a:pt x="1715628" y="0"/>
                </a:cubicBezTo>
                <a:cubicBezTo>
                  <a:pt x="1935280" y="-15251"/>
                  <a:pt x="2009078" y="40834"/>
                  <a:pt x="2272650" y="0"/>
                </a:cubicBezTo>
                <a:cubicBezTo>
                  <a:pt x="2536222" y="-40834"/>
                  <a:pt x="2584683" y="30852"/>
                  <a:pt x="2874234" y="0"/>
                </a:cubicBezTo>
                <a:cubicBezTo>
                  <a:pt x="3163785" y="-30852"/>
                  <a:pt x="3133406" y="9206"/>
                  <a:pt x="3386694" y="0"/>
                </a:cubicBezTo>
                <a:cubicBezTo>
                  <a:pt x="3639982" y="-9206"/>
                  <a:pt x="3706615" y="17359"/>
                  <a:pt x="3810030" y="0"/>
                </a:cubicBezTo>
                <a:cubicBezTo>
                  <a:pt x="3913445" y="-17359"/>
                  <a:pt x="4291020" y="13519"/>
                  <a:pt x="4456176" y="0"/>
                </a:cubicBezTo>
                <a:cubicBezTo>
                  <a:pt x="4485145" y="236491"/>
                  <a:pt x="4405491" y="378940"/>
                  <a:pt x="4456176" y="504261"/>
                </a:cubicBezTo>
                <a:cubicBezTo>
                  <a:pt x="4506861" y="629582"/>
                  <a:pt x="4423930" y="770059"/>
                  <a:pt x="4456176" y="1008522"/>
                </a:cubicBezTo>
                <a:cubicBezTo>
                  <a:pt x="4488422" y="1246985"/>
                  <a:pt x="4389313" y="1355141"/>
                  <a:pt x="4456176" y="1581546"/>
                </a:cubicBezTo>
                <a:cubicBezTo>
                  <a:pt x="4523039" y="1807951"/>
                  <a:pt x="4415745" y="2003097"/>
                  <a:pt x="4456176" y="2120189"/>
                </a:cubicBezTo>
                <a:cubicBezTo>
                  <a:pt x="4496607" y="2237281"/>
                  <a:pt x="4399893" y="2454525"/>
                  <a:pt x="4456176" y="2693213"/>
                </a:cubicBezTo>
                <a:cubicBezTo>
                  <a:pt x="4512459" y="2931901"/>
                  <a:pt x="4419066" y="3126005"/>
                  <a:pt x="4456176" y="3438144"/>
                </a:cubicBezTo>
                <a:cubicBezTo>
                  <a:pt x="4299287" y="3486861"/>
                  <a:pt x="4200772" y="3427360"/>
                  <a:pt x="4032839" y="3438144"/>
                </a:cubicBezTo>
                <a:cubicBezTo>
                  <a:pt x="3864906" y="3448928"/>
                  <a:pt x="3538516" y="3426393"/>
                  <a:pt x="3386694" y="3438144"/>
                </a:cubicBezTo>
                <a:cubicBezTo>
                  <a:pt x="3234873" y="3449895"/>
                  <a:pt x="3053684" y="3381807"/>
                  <a:pt x="2785110" y="3438144"/>
                </a:cubicBezTo>
                <a:cubicBezTo>
                  <a:pt x="2516536" y="3494481"/>
                  <a:pt x="2443614" y="3435662"/>
                  <a:pt x="2272650" y="3438144"/>
                </a:cubicBezTo>
                <a:cubicBezTo>
                  <a:pt x="2101686" y="3440626"/>
                  <a:pt x="1876736" y="3435005"/>
                  <a:pt x="1715628" y="3438144"/>
                </a:cubicBezTo>
                <a:cubicBezTo>
                  <a:pt x="1554520" y="3441283"/>
                  <a:pt x="1281654" y="3362386"/>
                  <a:pt x="1069482" y="3438144"/>
                </a:cubicBezTo>
                <a:cubicBezTo>
                  <a:pt x="857310" y="3513902"/>
                  <a:pt x="489333" y="3360325"/>
                  <a:pt x="0" y="3438144"/>
                </a:cubicBezTo>
                <a:cubicBezTo>
                  <a:pt x="-72848" y="3243678"/>
                  <a:pt x="15693" y="2975239"/>
                  <a:pt x="0" y="2830739"/>
                </a:cubicBezTo>
                <a:cubicBezTo>
                  <a:pt x="-15693" y="2686239"/>
                  <a:pt x="11049" y="2518466"/>
                  <a:pt x="0" y="2360859"/>
                </a:cubicBezTo>
                <a:cubicBezTo>
                  <a:pt x="-11049" y="2203252"/>
                  <a:pt x="45468" y="1995049"/>
                  <a:pt x="0" y="1787835"/>
                </a:cubicBezTo>
                <a:cubicBezTo>
                  <a:pt x="-45468" y="1580621"/>
                  <a:pt x="54566" y="1423293"/>
                  <a:pt x="0" y="1214811"/>
                </a:cubicBezTo>
                <a:cubicBezTo>
                  <a:pt x="-54566" y="1006329"/>
                  <a:pt x="15810" y="839437"/>
                  <a:pt x="0" y="710550"/>
                </a:cubicBezTo>
                <a:cubicBezTo>
                  <a:pt x="-15810" y="581663"/>
                  <a:pt x="46367" y="216810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F169F-CE0E-9D2D-C4AF-ED449E6BD026}"/>
              </a:ext>
            </a:extLst>
          </p:cNvPr>
          <p:cNvSpPr txBox="1"/>
          <p:nvPr/>
        </p:nvSpPr>
        <p:spPr>
          <a:xfrm>
            <a:off x="9076944" y="2757022"/>
            <a:ext cx="2980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Ambiente que contiene los “elementos” que estamos trabajando y están cargados en la RAM</a:t>
            </a:r>
            <a:endParaRPr lang="en-GB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2BD05-A9F6-D413-0CC0-67C1D7E0652F}"/>
              </a:ext>
            </a:extLst>
          </p:cNvPr>
          <p:cNvSpPr/>
          <p:nvPr/>
        </p:nvSpPr>
        <p:spPr>
          <a:xfrm>
            <a:off x="64008" y="0"/>
            <a:ext cx="7607808" cy="630936"/>
          </a:xfrm>
          <a:custGeom>
            <a:avLst/>
            <a:gdLst>
              <a:gd name="csX0" fmla="*/ 0 w 7607808"/>
              <a:gd name="csY0" fmla="*/ 0 h 630936"/>
              <a:gd name="csX1" fmla="*/ 585216 w 7607808"/>
              <a:gd name="csY1" fmla="*/ 0 h 630936"/>
              <a:gd name="csX2" fmla="*/ 1246510 w 7607808"/>
              <a:gd name="csY2" fmla="*/ 0 h 630936"/>
              <a:gd name="csX3" fmla="*/ 1831726 w 7607808"/>
              <a:gd name="csY3" fmla="*/ 0 h 630936"/>
              <a:gd name="csX4" fmla="*/ 2416942 w 7607808"/>
              <a:gd name="csY4" fmla="*/ 0 h 630936"/>
              <a:gd name="csX5" fmla="*/ 3078236 w 7607808"/>
              <a:gd name="csY5" fmla="*/ 0 h 630936"/>
              <a:gd name="csX6" fmla="*/ 3587374 w 7607808"/>
              <a:gd name="csY6" fmla="*/ 0 h 630936"/>
              <a:gd name="csX7" fmla="*/ 3944356 w 7607808"/>
              <a:gd name="csY7" fmla="*/ 0 h 630936"/>
              <a:gd name="csX8" fmla="*/ 4681728 w 7607808"/>
              <a:gd name="csY8" fmla="*/ 0 h 630936"/>
              <a:gd name="csX9" fmla="*/ 5114788 w 7607808"/>
              <a:gd name="csY9" fmla="*/ 0 h 630936"/>
              <a:gd name="csX10" fmla="*/ 5700004 w 7607808"/>
              <a:gd name="csY10" fmla="*/ 0 h 630936"/>
              <a:gd name="csX11" fmla="*/ 6361298 w 7607808"/>
              <a:gd name="csY11" fmla="*/ 0 h 630936"/>
              <a:gd name="csX12" fmla="*/ 6794358 w 7607808"/>
              <a:gd name="csY12" fmla="*/ 0 h 630936"/>
              <a:gd name="csX13" fmla="*/ 7607808 w 7607808"/>
              <a:gd name="csY13" fmla="*/ 0 h 630936"/>
              <a:gd name="csX14" fmla="*/ 7607808 w 7607808"/>
              <a:gd name="csY14" fmla="*/ 328087 h 630936"/>
              <a:gd name="csX15" fmla="*/ 7607808 w 7607808"/>
              <a:gd name="csY15" fmla="*/ 630936 h 630936"/>
              <a:gd name="csX16" fmla="*/ 6946514 w 7607808"/>
              <a:gd name="csY16" fmla="*/ 630936 h 630936"/>
              <a:gd name="csX17" fmla="*/ 6285220 w 7607808"/>
              <a:gd name="csY17" fmla="*/ 630936 h 630936"/>
              <a:gd name="csX18" fmla="*/ 5776082 w 7607808"/>
              <a:gd name="csY18" fmla="*/ 630936 h 630936"/>
              <a:gd name="csX19" fmla="*/ 5190866 w 7607808"/>
              <a:gd name="csY19" fmla="*/ 630936 h 630936"/>
              <a:gd name="csX20" fmla="*/ 4453494 w 7607808"/>
              <a:gd name="csY20" fmla="*/ 630936 h 630936"/>
              <a:gd name="csX21" fmla="*/ 3716122 w 7607808"/>
              <a:gd name="csY21" fmla="*/ 630936 h 630936"/>
              <a:gd name="csX22" fmla="*/ 3054828 w 7607808"/>
              <a:gd name="csY22" fmla="*/ 630936 h 630936"/>
              <a:gd name="csX23" fmla="*/ 2317455 w 7607808"/>
              <a:gd name="csY23" fmla="*/ 630936 h 630936"/>
              <a:gd name="csX24" fmla="*/ 1580083 w 7607808"/>
              <a:gd name="csY24" fmla="*/ 630936 h 630936"/>
              <a:gd name="csX25" fmla="*/ 1147023 w 7607808"/>
              <a:gd name="csY25" fmla="*/ 630936 h 630936"/>
              <a:gd name="csX26" fmla="*/ 0 w 7607808"/>
              <a:gd name="csY26" fmla="*/ 630936 h 630936"/>
              <a:gd name="csX27" fmla="*/ 0 w 7607808"/>
              <a:gd name="csY27" fmla="*/ 315468 h 630936"/>
              <a:gd name="csX28" fmla="*/ 0 w 7607808"/>
              <a:gd name="csY28" fmla="*/ 0 h 630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07808" h="630936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13161" y="93587"/>
                  <a:pt x="7586079" y="177870"/>
                  <a:pt x="7607808" y="328087"/>
                </a:cubicBezTo>
                <a:cubicBezTo>
                  <a:pt x="7629537" y="478304"/>
                  <a:pt x="7606027" y="522110"/>
                  <a:pt x="7607808" y="630936"/>
                </a:cubicBezTo>
                <a:cubicBezTo>
                  <a:pt x="7408747" y="670273"/>
                  <a:pt x="7256377" y="552960"/>
                  <a:pt x="6946514" y="630936"/>
                </a:cubicBezTo>
                <a:cubicBezTo>
                  <a:pt x="6636651" y="708912"/>
                  <a:pt x="6472394" y="623536"/>
                  <a:pt x="6285220" y="630936"/>
                </a:cubicBezTo>
                <a:cubicBezTo>
                  <a:pt x="6098046" y="638336"/>
                  <a:pt x="5906784" y="605441"/>
                  <a:pt x="5776082" y="630936"/>
                </a:cubicBezTo>
                <a:cubicBezTo>
                  <a:pt x="5645380" y="656431"/>
                  <a:pt x="5482758" y="625694"/>
                  <a:pt x="5190866" y="630936"/>
                </a:cubicBezTo>
                <a:cubicBezTo>
                  <a:pt x="4898974" y="636178"/>
                  <a:pt x="4659817" y="629717"/>
                  <a:pt x="4453494" y="630936"/>
                </a:cubicBezTo>
                <a:cubicBezTo>
                  <a:pt x="4247171" y="632155"/>
                  <a:pt x="3867474" y="589128"/>
                  <a:pt x="3716122" y="630936"/>
                </a:cubicBezTo>
                <a:cubicBezTo>
                  <a:pt x="3564770" y="672744"/>
                  <a:pt x="3208320" y="623415"/>
                  <a:pt x="3054828" y="630936"/>
                </a:cubicBezTo>
                <a:cubicBezTo>
                  <a:pt x="2901336" y="638457"/>
                  <a:pt x="2578007" y="587024"/>
                  <a:pt x="2317455" y="630936"/>
                </a:cubicBezTo>
                <a:cubicBezTo>
                  <a:pt x="2056903" y="674848"/>
                  <a:pt x="1747261" y="546707"/>
                  <a:pt x="1580083" y="630936"/>
                </a:cubicBezTo>
                <a:cubicBezTo>
                  <a:pt x="1412905" y="715165"/>
                  <a:pt x="1286362" y="587996"/>
                  <a:pt x="1147023" y="630936"/>
                </a:cubicBezTo>
                <a:cubicBezTo>
                  <a:pt x="1007684" y="673876"/>
                  <a:pt x="492363" y="564404"/>
                  <a:pt x="0" y="630936"/>
                </a:cubicBezTo>
                <a:cubicBezTo>
                  <a:pt x="-21256" y="533329"/>
                  <a:pt x="11559" y="434047"/>
                  <a:pt x="0" y="315468"/>
                </a:cubicBezTo>
                <a:cubicBezTo>
                  <a:pt x="-11559" y="196889"/>
                  <a:pt x="6457" y="122647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0FF70-17B2-87D0-8567-BCBA02DD3F90}"/>
              </a:ext>
            </a:extLst>
          </p:cNvPr>
          <p:cNvSpPr txBox="1"/>
          <p:nvPr/>
        </p:nvSpPr>
        <p:spPr>
          <a:xfrm>
            <a:off x="5556504" y="212274"/>
            <a:ext cx="2980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>
                    <a:lumMod val="50000"/>
                  </a:schemeClr>
                </a:solidFill>
              </a:rPr>
              <a:t>Barra de opciones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449BD-CA70-E8B3-D3D1-7760A6AE582F}"/>
              </a:ext>
            </a:extLst>
          </p:cNvPr>
          <p:cNvSpPr/>
          <p:nvPr/>
        </p:nvSpPr>
        <p:spPr>
          <a:xfrm>
            <a:off x="7703820" y="4118410"/>
            <a:ext cx="4488180" cy="2625975"/>
          </a:xfrm>
          <a:custGeom>
            <a:avLst/>
            <a:gdLst>
              <a:gd name="csX0" fmla="*/ 0 w 4488180"/>
              <a:gd name="csY0" fmla="*/ 0 h 2625975"/>
              <a:gd name="csX1" fmla="*/ 561023 w 4488180"/>
              <a:gd name="csY1" fmla="*/ 0 h 2625975"/>
              <a:gd name="csX2" fmla="*/ 1166927 w 4488180"/>
              <a:gd name="csY2" fmla="*/ 0 h 2625975"/>
              <a:gd name="csX3" fmla="*/ 1727949 w 4488180"/>
              <a:gd name="csY3" fmla="*/ 0 h 2625975"/>
              <a:gd name="csX4" fmla="*/ 2288972 w 4488180"/>
              <a:gd name="csY4" fmla="*/ 0 h 2625975"/>
              <a:gd name="csX5" fmla="*/ 2894876 w 4488180"/>
              <a:gd name="csY5" fmla="*/ 0 h 2625975"/>
              <a:gd name="csX6" fmla="*/ 3411017 w 4488180"/>
              <a:gd name="csY6" fmla="*/ 0 h 2625975"/>
              <a:gd name="csX7" fmla="*/ 3837394 w 4488180"/>
              <a:gd name="csY7" fmla="*/ 0 h 2625975"/>
              <a:gd name="csX8" fmla="*/ 4488180 w 4488180"/>
              <a:gd name="csY8" fmla="*/ 0 h 2625975"/>
              <a:gd name="csX9" fmla="*/ 4488180 w 4488180"/>
              <a:gd name="csY9" fmla="*/ 472676 h 2625975"/>
              <a:gd name="csX10" fmla="*/ 4488180 w 4488180"/>
              <a:gd name="csY10" fmla="*/ 945351 h 2625975"/>
              <a:gd name="csX11" fmla="*/ 4488180 w 4488180"/>
              <a:gd name="csY11" fmla="*/ 1470546 h 2625975"/>
              <a:gd name="csX12" fmla="*/ 4488180 w 4488180"/>
              <a:gd name="csY12" fmla="*/ 1969481 h 2625975"/>
              <a:gd name="csX13" fmla="*/ 4488180 w 4488180"/>
              <a:gd name="csY13" fmla="*/ 2625975 h 2625975"/>
              <a:gd name="csX14" fmla="*/ 3882276 w 4488180"/>
              <a:gd name="csY14" fmla="*/ 2625975 h 2625975"/>
              <a:gd name="csX15" fmla="*/ 3455899 w 4488180"/>
              <a:gd name="csY15" fmla="*/ 2625975 h 2625975"/>
              <a:gd name="csX16" fmla="*/ 2805113 w 4488180"/>
              <a:gd name="csY16" fmla="*/ 2625975 h 2625975"/>
              <a:gd name="csX17" fmla="*/ 2199208 w 4488180"/>
              <a:gd name="csY17" fmla="*/ 2625975 h 2625975"/>
              <a:gd name="csX18" fmla="*/ 1683068 w 4488180"/>
              <a:gd name="csY18" fmla="*/ 2625975 h 2625975"/>
              <a:gd name="csX19" fmla="*/ 1122045 w 4488180"/>
              <a:gd name="csY19" fmla="*/ 2625975 h 2625975"/>
              <a:gd name="csX20" fmla="*/ 0 w 4488180"/>
              <a:gd name="csY20" fmla="*/ 2625975 h 2625975"/>
              <a:gd name="csX21" fmla="*/ 0 w 4488180"/>
              <a:gd name="csY21" fmla="*/ 2048261 h 2625975"/>
              <a:gd name="csX22" fmla="*/ 0 w 4488180"/>
              <a:gd name="csY22" fmla="*/ 1549325 h 2625975"/>
              <a:gd name="csX23" fmla="*/ 0 w 4488180"/>
              <a:gd name="csY23" fmla="*/ 1102909 h 2625975"/>
              <a:gd name="csX24" fmla="*/ 0 w 4488180"/>
              <a:gd name="csY24" fmla="*/ 577714 h 2625975"/>
              <a:gd name="csX25" fmla="*/ 0 w 4488180"/>
              <a:gd name="csY25" fmla="*/ 0 h 2625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488180" h="2625975" extrusionOk="0">
                <a:moveTo>
                  <a:pt x="0" y="0"/>
                </a:moveTo>
                <a:cubicBezTo>
                  <a:pt x="197338" y="-55356"/>
                  <a:pt x="401775" y="3411"/>
                  <a:pt x="561023" y="0"/>
                </a:cubicBezTo>
                <a:cubicBezTo>
                  <a:pt x="720271" y="-3411"/>
                  <a:pt x="1005607" y="38810"/>
                  <a:pt x="1166927" y="0"/>
                </a:cubicBezTo>
                <a:cubicBezTo>
                  <a:pt x="1328247" y="-38810"/>
                  <a:pt x="1471551" y="19337"/>
                  <a:pt x="1727949" y="0"/>
                </a:cubicBezTo>
                <a:cubicBezTo>
                  <a:pt x="1984347" y="-19337"/>
                  <a:pt x="2038692" y="47679"/>
                  <a:pt x="2288972" y="0"/>
                </a:cubicBezTo>
                <a:cubicBezTo>
                  <a:pt x="2539252" y="-47679"/>
                  <a:pt x="2657248" y="61058"/>
                  <a:pt x="2894876" y="0"/>
                </a:cubicBezTo>
                <a:cubicBezTo>
                  <a:pt x="3132504" y="-61058"/>
                  <a:pt x="3244420" y="8941"/>
                  <a:pt x="3411017" y="0"/>
                </a:cubicBezTo>
                <a:cubicBezTo>
                  <a:pt x="3577614" y="-8941"/>
                  <a:pt x="3643299" y="15803"/>
                  <a:pt x="3837394" y="0"/>
                </a:cubicBezTo>
                <a:cubicBezTo>
                  <a:pt x="4031489" y="-15803"/>
                  <a:pt x="4174882" y="47840"/>
                  <a:pt x="4488180" y="0"/>
                </a:cubicBezTo>
                <a:cubicBezTo>
                  <a:pt x="4528835" y="166479"/>
                  <a:pt x="4458463" y="301311"/>
                  <a:pt x="4488180" y="472676"/>
                </a:cubicBezTo>
                <a:cubicBezTo>
                  <a:pt x="4517897" y="644041"/>
                  <a:pt x="4455782" y="806814"/>
                  <a:pt x="4488180" y="945351"/>
                </a:cubicBezTo>
                <a:cubicBezTo>
                  <a:pt x="4520578" y="1083888"/>
                  <a:pt x="4449444" y="1219386"/>
                  <a:pt x="4488180" y="1470546"/>
                </a:cubicBezTo>
                <a:cubicBezTo>
                  <a:pt x="4526916" y="1721707"/>
                  <a:pt x="4479459" y="1793011"/>
                  <a:pt x="4488180" y="1969481"/>
                </a:cubicBezTo>
                <a:cubicBezTo>
                  <a:pt x="4496901" y="2145952"/>
                  <a:pt x="4454644" y="2418711"/>
                  <a:pt x="4488180" y="2625975"/>
                </a:cubicBezTo>
                <a:cubicBezTo>
                  <a:pt x="4229689" y="2647179"/>
                  <a:pt x="4140096" y="2597087"/>
                  <a:pt x="3882276" y="2625975"/>
                </a:cubicBezTo>
                <a:cubicBezTo>
                  <a:pt x="3624456" y="2654863"/>
                  <a:pt x="3623006" y="2575012"/>
                  <a:pt x="3455899" y="2625975"/>
                </a:cubicBezTo>
                <a:cubicBezTo>
                  <a:pt x="3288792" y="2676938"/>
                  <a:pt x="2997876" y="2557235"/>
                  <a:pt x="2805113" y="2625975"/>
                </a:cubicBezTo>
                <a:cubicBezTo>
                  <a:pt x="2612350" y="2694715"/>
                  <a:pt x="2354065" y="2582852"/>
                  <a:pt x="2199208" y="2625975"/>
                </a:cubicBezTo>
                <a:cubicBezTo>
                  <a:pt x="2044351" y="2669098"/>
                  <a:pt x="1833608" y="2613437"/>
                  <a:pt x="1683068" y="2625975"/>
                </a:cubicBezTo>
                <a:cubicBezTo>
                  <a:pt x="1532528" y="2638513"/>
                  <a:pt x="1275862" y="2580866"/>
                  <a:pt x="1122045" y="2625975"/>
                </a:cubicBezTo>
                <a:cubicBezTo>
                  <a:pt x="968228" y="2671084"/>
                  <a:pt x="411999" y="2541988"/>
                  <a:pt x="0" y="2625975"/>
                </a:cubicBezTo>
                <a:cubicBezTo>
                  <a:pt x="-49039" y="2391519"/>
                  <a:pt x="63364" y="2174925"/>
                  <a:pt x="0" y="2048261"/>
                </a:cubicBezTo>
                <a:cubicBezTo>
                  <a:pt x="-63364" y="1921597"/>
                  <a:pt x="37103" y="1769245"/>
                  <a:pt x="0" y="1549325"/>
                </a:cubicBezTo>
                <a:cubicBezTo>
                  <a:pt x="-37103" y="1329405"/>
                  <a:pt x="17489" y="1216382"/>
                  <a:pt x="0" y="1102909"/>
                </a:cubicBezTo>
                <a:cubicBezTo>
                  <a:pt x="-17489" y="989436"/>
                  <a:pt x="681" y="734763"/>
                  <a:pt x="0" y="577714"/>
                </a:cubicBezTo>
                <a:cubicBezTo>
                  <a:pt x="-681" y="420665"/>
                  <a:pt x="55554" y="288011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FA9DB-9801-5436-A96B-9E6F4A3018F3}"/>
              </a:ext>
            </a:extLst>
          </p:cNvPr>
          <p:cNvSpPr txBox="1"/>
          <p:nvPr/>
        </p:nvSpPr>
        <p:spPr>
          <a:xfrm>
            <a:off x="9147048" y="5621772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6">
                    <a:lumMod val="50000"/>
                  </a:schemeClr>
                </a:solidFill>
              </a:rPr>
              <a:t>Archivos del proyecto, visualizador y administrador de paquetes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0290E-35E7-C543-7239-C2A2A7A54318}"/>
              </a:ext>
            </a:extLst>
          </p:cNvPr>
          <p:cNvSpPr/>
          <p:nvPr/>
        </p:nvSpPr>
        <p:spPr>
          <a:xfrm>
            <a:off x="64008" y="630936"/>
            <a:ext cx="7607808" cy="2499360"/>
          </a:xfrm>
          <a:custGeom>
            <a:avLst/>
            <a:gdLst>
              <a:gd name="csX0" fmla="*/ 0 w 7607808"/>
              <a:gd name="csY0" fmla="*/ 0 h 2499360"/>
              <a:gd name="csX1" fmla="*/ 585216 w 7607808"/>
              <a:gd name="csY1" fmla="*/ 0 h 2499360"/>
              <a:gd name="csX2" fmla="*/ 1246510 w 7607808"/>
              <a:gd name="csY2" fmla="*/ 0 h 2499360"/>
              <a:gd name="csX3" fmla="*/ 1831726 w 7607808"/>
              <a:gd name="csY3" fmla="*/ 0 h 2499360"/>
              <a:gd name="csX4" fmla="*/ 2416942 w 7607808"/>
              <a:gd name="csY4" fmla="*/ 0 h 2499360"/>
              <a:gd name="csX5" fmla="*/ 3078236 w 7607808"/>
              <a:gd name="csY5" fmla="*/ 0 h 2499360"/>
              <a:gd name="csX6" fmla="*/ 3587374 w 7607808"/>
              <a:gd name="csY6" fmla="*/ 0 h 2499360"/>
              <a:gd name="csX7" fmla="*/ 3944356 w 7607808"/>
              <a:gd name="csY7" fmla="*/ 0 h 2499360"/>
              <a:gd name="csX8" fmla="*/ 4681728 w 7607808"/>
              <a:gd name="csY8" fmla="*/ 0 h 2499360"/>
              <a:gd name="csX9" fmla="*/ 5114788 w 7607808"/>
              <a:gd name="csY9" fmla="*/ 0 h 2499360"/>
              <a:gd name="csX10" fmla="*/ 5700004 w 7607808"/>
              <a:gd name="csY10" fmla="*/ 0 h 2499360"/>
              <a:gd name="csX11" fmla="*/ 6361298 w 7607808"/>
              <a:gd name="csY11" fmla="*/ 0 h 2499360"/>
              <a:gd name="csX12" fmla="*/ 6794358 w 7607808"/>
              <a:gd name="csY12" fmla="*/ 0 h 2499360"/>
              <a:gd name="csX13" fmla="*/ 7607808 w 7607808"/>
              <a:gd name="csY13" fmla="*/ 0 h 2499360"/>
              <a:gd name="csX14" fmla="*/ 7607808 w 7607808"/>
              <a:gd name="csY14" fmla="*/ 549859 h 2499360"/>
              <a:gd name="csX15" fmla="*/ 7607808 w 7607808"/>
              <a:gd name="csY15" fmla="*/ 974750 h 2499360"/>
              <a:gd name="csX16" fmla="*/ 7607808 w 7607808"/>
              <a:gd name="csY16" fmla="*/ 1499616 h 2499360"/>
              <a:gd name="csX17" fmla="*/ 7607808 w 7607808"/>
              <a:gd name="csY17" fmla="*/ 2024482 h 2499360"/>
              <a:gd name="csX18" fmla="*/ 7607808 w 7607808"/>
              <a:gd name="csY18" fmla="*/ 2499360 h 2499360"/>
              <a:gd name="csX19" fmla="*/ 6870436 w 7607808"/>
              <a:gd name="csY19" fmla="*/ 2499360 h 2499360"/>
              <a:gd name="csX20" fmla="*/ 6133064 w 7607808"/>
              <a:gd name="csY20" fmla="*/ 2499360 h 2499360"/>
              <a:gd name="csX21" fmla="*/ 5395692 w 7607808"/>
              <a:gd name="csY21" fmla="*/ 2499360 h 2499360"/>
              <a:gd name="csX22" fmla="*/ 4734397 w 7607808"/>
              <a:gd name="csY22" fmla="*/ 2499360 h 2499360"/>
              <a:gd name="csX23" fmla="*/ 3997025 w 7607808"/>
              <a:gd name="csY23" fmla="*/ 2499360 h 2499360"/>
              <a:gd name="csX24" fmla="*/ 3259653 w 7607808"/>
              <a:gd name="csY24" fmla="*/ 2499360 h 2499360"/>
              <a:gd name="csX25" fmla="*/ 2826593 w 7607808"/>
              <a:gd name="csY25" fmla="*/ 2499360 h 2499360"/>
              <a:gd name="csX26" fmla="*/ 2089221 w 7607808"/>
              <a:gd name="csY26" fmla="*/ 2499360 h 2499360"/>
              <a:gd name="csX27" fmla="*/ 1504005 w 7607808"/>
              <a:gd name="csY27" fmla="*/ 2499360 h 2499360"/>
              <a:gd name="csX28" fmla="*/ 918789 w 7607808"/>
              <a:gd name="csY28" fmla="*/ 2499360 h 2499360"/>
              <a:gd name="csX29" fmla="*/ 0 w 7607808"/>
              <a:gd name="csY29" fmla="*/ 2499360 h 2499360"/>
              <a:gd name="csX30" fmla="*/ 0 w 7607808"/>
              <a:gd name="csY30" fmla="*/ 1974494 h 2499360"/>
              <a:gd name="csX31" fmla="*/ 0 w 7607808"/>
              <a:gd name="csY31" fmla="*/ 1499616 h 2499360"/>
              <a:gd name="csX32" fmla="*/ 0 w 7607808"/>
              <a:gd name="csY32" fmla="*/ 1074725 h 2499360"/>
              <a:gd name="csX33" fmla="*/ 0 w 7607808"/>
              <a:gd name="csY33" fmla="*/ 599846 h 2499360"/>
              <a:gd name="csX34" fmla="*/ 0 w 7607808"/>
              <a:gd name="csY34" fmla="*/ 0 h 2499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607808" h="2499360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18895" y="249690"/>
                  <a:pt x="7591232" y="293961"/>
                  <a:pt x="7607808" y="549859"/>
                </a:cubicBezTo>
                <a:cubicBezTo>
                  <a:pt x="7624384" y="805757"/>
                  <a:pt x="7592267" y="793697"/>
                  <a:pt x="7607808" y="974750"/>
                </a:cubicBezTo>
                <a:cubicBezTo>
                  <a:pt x="7623349" y="1155803"/>
                  <a:pt x="7569325" y="1258481"/>
                  <a:pt x="7607808" y="1499616"/>
                </a:cubicBezTo>
                <a:cubicBezTo>
                  <a:pt x="7646291" y="1740751"/>
                  <a:pt x="7591590" y="1868191"/>
                  <a:pt x="7607808" y="2024482"/>
                </a:cubicBezTo>
                <a:cubicBezTo>
                  <a:pt x="7624026" y="2180773"/>
                  <a:pt x="7561656" y="2289434"/>
                  <a:pt x="7607808" y="2499360"/>
                </a:cubicBezTo>
                <a:cubicBezTo>
                  <a:pt x="7367617" y="2509983"/>
                  <a:pt x="7075158" y="2437308"/>
                  <a:pt x="6870436" y="2499360"/>
                </a:cubicBezTo>
                <a:cubicBezTo>
                  <a:pt x="6665714" y="2561412"/>
                  <a:pt x="6339387" y="2498141"/>
                  <a:pt x="6133064" y="2499360"/>
                </a:cubicBezTo>
                <a:cubicBezTo>
                  <a:pt x="5926741" y="2500579"/>
                  <a:pt x="5547044" y="2457552"/>
                  <a:pt x="5395692" y="2499360"/>
                </a:cubicBezTo>
                <a:cubicBezTo>
                  <a:pt x="5244340" y="2541168"/>
                  <a:pt x="4893549" y="2498024"/>
                  <a:pt x="4734397" y="2499360"/>
                </a:cubicBezTo>
                <a:cubicBezTo>
                  <a:pt x="4575246" y="2500696"/>
                  <a:pt x="4257013" y="2452421"/>
                  <a:pt x="3997025" y="2499360"/>
                </a:cubicBezTo>
                <a:cubicBezTo>
                  <a:pt x="3737037" y="2546299"/>
                  <a:pt x="3426831" y="2415131"/>
                  <a:pt x="3259653" y="2499360"/>
                </a:cubicBezTo>
                <a:cubicBezTo>
                  <a:pt x="3092475" y="2583589"/>
                  <a:pt x="2965932" y="2456420"/>
                  <a:pt x="2826593" y="2499360"/>
                </a:cubicBezTo>
                <a:cubicBezTo>
                  <a:pt x="2687254" y="2542300"/>
                  <a:pt x="2353367" y="2413380"/>
                  <a:pt x="2089221" y="2499360"/>
                </a:cubicBezTo>
                <a:cubicBezTo>
                  <a:pt x="1825075" y="2585340"/>
                  <a:pt x="1705080" y="2485503"/>
                  <a:pt x="1504005" y="2499360"/>
                </a:cubicBezTo>
                <a:cubicBezTo>
                  <a:pt x="1302930" y="2513217"/>
                  <a:pt x="1141299" y="2429733"/>
                  <a:pt x="918789" y="2499360"/>
                </a:cubicBezTo>
                <a:cubicBezTo>
                  <a:pt x="696279" y="2568987"/>
                  <a:pt x="434825" y="2465928"/>
                  <a:pt x="0" y="2499360"/>
                </a:cubicBezTo>
                <a:cubicBezTo>
                  <a:pt x="-42361" y="2324308"/>
                  <a:pt x="34460" y="2169221"/>
                  <a:pt x="0" y="1974494"/>
                </a:cubicBezTo>
                <a:cubicBezTo>
                  <a:pt x="-34460" y="1779767"/>
                  <a:pt x="37419" y="1606762"/>
                  <a:pt x="0" y="1499616"/>
                </a:cubicBezTo>
                <a:cubicBezTo>
                  <a:pt x="-37419" y="1392470"/>
                  <a:pt x="16991" y="1272292"/>
                  <a:pt x="0" y="1074725"/>
                </a:cubicBezTo>
                <a:cubicBezTo>
                  <a:pt x="-16991" y="877158"/>
                  <a:pt x="45248" y="771928"/>
                  <a:pt x="0" y="599846"/>
                </a:cubicBezTo>
                <a:cubicBezTo>
                  <a:pt x="-45248" y="427764"/>
                  <a:pt x="37911" y="184974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DF253-CDBB-F340-D30F-D677DFA5DA78}"/>
              </a:ext>
            </a:extLst>
          </p:cNvPr>
          <p:cNvSpPr txBox="1"/>
          <p:nvPr/>
        </p:nvSpPr>
        <p:spPr>
          <a:xfrm>
            <a:off x="4276344" y="2076172"/>
            <a:ext cx="2980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Acá también se visualizan los objetos (ej. Tablas)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5B543A77-ECD8-0D5A-C466-F3C47D0CB3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/>
              <a:t>Sintaxis b</a:t>
            </a:r>
            <a:r>
              <a:rPr lang="es-CL"/>
              <a:t>ásica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6138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3700-3495-5E39-8D31-73B651801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Sintaxis básica en 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B5C92-3A4A-0089-A350-63B04D3BD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6880" cy="4351338"/>
          </a:xfrm>
        </p:spPr>
        <p:txBody>
          <a:bodyPr/>
          <a:lstStyle/>
          <a:p>
            <a:r>
              <a:rPr lang="es-ES" dirty="0"/>
              <a:t>R es un lenguaje de programación orientado a objetos. La mayor parte de las funciones en R buscan la transformación o creación de un objeto (ej. Tabla, lista, gráfico, matriz, </a:t>
            </a:r>
            <a:r>
              <a:rPr lang="es-ES" dirty="0" err="1"/>
              <a:t>etc</a:t>
            </a:r>
            <a:r>
              <a:rPr lang="es-ES" dirty="0"/>
              <a:t>…)</a:t>
            </a:r>
          </a:p>
          <a:p>
            <a:r>
              <a:rPr lang="es-ES" dirty="0"/>
              <a:t>En R base, se representa por “</a:t>
            </a:r>
            <a:r>
              <a:rPr lang="en-US" dirty="0"/>
              <a:t>&lt;-”</a:t>
            </a:r>
          </a:p>
          <a:p>
            <a:endParaRPr lang="en-US" dirty="0"/>
          </a:p>
          <a:p>
            <a:pPr lvl="1"/>
            <a:r>
              <a:rPr lang="en-US" dirty="0" err="1"/>
              <a:t>Ejemplo</a:t>
            </a:r>
            <a:r>
              <a:rPr lang="en-US" dirty="0"/>
              <a:t>: </a:t>
            </a:r>
            <a:r>
              <a:rPr lang="en-US" dirty="0" err="1"/>
              <a:t>mitexto</a:t>
            </a:r>
            <a:r>
              <a:rPr lang="en-US" dirty="0"/>
              <a:t> &lt;- “Hola </a:t>
            </a:r>
            <a:r>
              <a:rPr lang="en-US" dirty="0" err="1"/>
              <a:t>mundo</a:t>
            </a:r>
            <a:r>
              <a:rPr lang="en-US" dirty="0"/>
              <a:t>”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ACF0B-965E-2953-73A2-74CD6AC0883E}"/>
              </a:ext>
            </a:extLst>
          </p:cNvPr>
          <p:cNvSpPr txBox="1"/>
          <p:nvPr/>
        </p:nvSpPr>
        <p:spPr>
          <a:xfrm>
            <a:off x="7324344" y="5378970"/>
            <a:ext cx="2980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Al igual que en otros lenguajes de programación, las comillas representan texto (</a:t>
            </a:r>
            <a:r>
              <a:rPr lang="es-ES" dirty="0" err="1">
                <a:solidFill>
                  <a:srgbClr val="FF0000"/>
                </a:solidFill>
              </a:rPr>
              <a:t>strings</a:t>
            </a:r>
            <a:r>
              <a:rPr lang="es-ES" dirty="0">
                <a:solidFill>
                  <a:srgbClr val="FF0000"/>
                </a:solidFill>
              </a:rPr>
              <a:t>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2B139-1591-0E3C-AEAC-72825AF0B7A3}"/>
              </a:ext>
            </a:extLst>
          </p:cNvPr>
          <p:cNvSpPr txBox="1"/>
          <p:nvPr/>
        </p:nvSpPr>
        <p:spPr>
          <a:xfrm>
            <a:off x="7220712" y="4001294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Este símbolo se conoce como “operador de asignación”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798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17D0-8458-766E-468D-179A371F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Sintaxis básica</a:t>
            </a:r>
            <a:r>
              <a:rPr lang="es-ES"/>
              <a:t> en 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D8CB2-DAE1-3567-576C-A7022B59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245566"/>
          </a:xfrm>
        </p:spPr>
        <p:txBody>
          <a:bodyPr/>
          <a:lstStyle/>
          <a:p>
            <a:r>
              <a:rPr lang="en-US" dirty="0"/>
              <a:t>Los </a:t>
            </a:r>
            <a:r>
              <a:rPr lang="en-US" dirty="0" err="1"/>
              <a:t>comandos</a:t>
            </a:r>
            <a:r>
              <a:rPr lang="en-US" dirty="0"/>
              <a:t> </a:t>
            </a:r>
            <a:r>
              <a:rPr lang="en-US" dirty="0" err="1"/>
              <a:t>incluyen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texo</a:t>
            </a:r>
            <a:r>
              <a:rPr lang="en-US" dirty="0"/>
              <a:t> (</a:t>
            </a:r>
            <a:r>
              <a:rPr lang="en-US" dirty="0" err="1"/>
              <a:t>nombre</a:t>
            </a:r>
            <a:r>
              <a:rPr lang="en-US" dirty="0"/>
              <a:t> del </a:t>
            </a:r>
            <a:r>
              <a:rPr lang="en-US" dirty="0" err="1"/>
              <a:t>comando</a:t>
            </a:r>
            <a:r>
              <a:rPr lang="en-US" dirty="0"/>
              <a:t> a </a:t>
            </a:r>
            <a:r>
              <a:rPr lang="en-US" dirty="0" err="1"/>
              <a:t>utilizar</a:t>
            </a:r>
            <a:r>
              <a:rPr lang="en-US" dirty="0"/>
              <a:t>)</a:t>
            </a:r>
            <a:r>
              <a:rPr lang="es-CL" dirty="0"/>
              <a:t> y luego, los argumentos del comando al interior del paréntesis (con algunas excepciones).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974CC-E07A-7363-4450-F65015D8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17" y="3189645"/>
            <a:ext cx="6441166" cy="91031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0A1967-7578-00DD-0204-96007C048AA1}"/>
              </a:ext>
            </a:extLst>
          </p:cNvPr>
          <p:cNvSpPr txBox="1">
            <a:spLocks/>
          </p:cNvSpPr>
          <p:nvPr/>
        </p:nvSpPr>
        <p:spPr>
          <a:xfrm>
            <a:off x="583096" y="4303782"/>
            <a:ext cx="10515600" cy="124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¡Atención! Porque las funciones pueden tener más de un argumento. En este caso, cada uno de los argumentos de la función se separan por “,”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2722CC-0A0B-646D-A284-89700AA0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274" y="5753170"/>
            <a:ext cx="5473452" cy="88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3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3959-4619-486E-AB45-A862BA3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Sintaxis</a:t>
            </a:r>
            <a:r>
              <a:rPr lang="en-US" dirty="0"/>
              <a:t> </a:t>
            </a:r>
            <a:r>
              <a:rPr lang="en-US" dirty="0" err="1"/>
              <a:t>básica</a:t>
            </a:r>
            <a:r>
              <a:rPr lang="es-ES" dirty="0"/>
              <a:t> en 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863B7-8763-637D-7455-53D78887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90" y="2412748"/>
            <a:ext cx="9626219" cy="24561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EC534-02C8-B5FE-7086-99071A16FA33}"/>
              </a:ext>
            </a:extLst>
          </p:cNvPr>
          <p:cNvSpPr txBox="1"/>
          <p:nvPr/>
        </p:nvSpPr>
        <p:spPr>
          <a:xfrm>
            <a:off x="8054440" y="6308209"/>
            <a:ext cx="4137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https://bookdown.org/gboccardo/manual-ED-UCH/uso-basico-de-rstudio.html#elementos-fundamentales-del-uso-de-sintaxis-en-rstudio</a:t>
            </a:r>
          </a:p>
        </p:txBody>
      </p:sp>
    </p:spTree>
    <p:extLst>
      <p:ext uri="{BB962C8B-B14F-4D97-AF65-F5344CB8AC3E}">
        <p14:creationId xmlns:p14="http://schemas.microsoft.com/office/powerpoint/2010/main" val="2221259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00CAF-A34E-9310-CEC6-2FD5EC9B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Operadores básicos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65EF-12AF-85E1-E45C-D563A25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 R Studio podemos hacer las operaciones matemáticas básicas y también podemos guardar esas operaciones como objetos.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F9F57-32EA-83BB-EB9D-00E0FD33FC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24"/>
          <a:stretch/>
        </p:blipFill>
        <p:spPr>
          <a:xfrm>
            <a:off x="1853971" y="3001029"/>
            <a:ext cx="8484058" cy="2000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DC9064-CC74-7412-5778-E1418697F342}"/>
              </a:ext>
            </a:extLst>
          </p:cNvPr>
          <p:cNvSpPr txBox="1"/>
          <p:nvPr/>
        </p:nvSpPr>
        <p:spPr>
          <a:xfrm>
            <a:off x="1853971" y="513649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¿</a:t>
            </a:r>
            <a:r>
              <a:rPr lang="es-ES" sz="2800" dirty="0"/>
              <a:t>Cómo lo asignamos a un objeto?</a:t>
            </a:r>
          </a:p>
        </p:txBody>
      </p:sp>
    </p:spTree>
    <p:extLst>
      <p:ext uri="{BB962C8B-B14F-4D97-AF65-F5344CB8AC3E}">
        <p14:creationId xmlns:p14="http://schemas.microsoft.com/office/powerpoint/2010/main" val="372699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877B-4D35-5A62-2D4C-250435DD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00F6-9FCD-9772-97A6-AB3FECC1E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Los datos (objetos) pueden tener distintas características dependiendo del tipo de dato.</a:t>
            </a:r>
          </a:p>
          <a:p>
            <a:r>
              <a:rPr lang="es-CL" dirty="0"/>
              <a:t>Los podemos “agrupar” utilizando la función </a:t>
            </a:r>
            <a:r>
              <a:rPr lang="es-CL" b="1" dirty="0"/>
              <a:t>c</a:t>
            </a:r>
            <a:r>
              <a:rPr lang="es-CL" dirty="0"/>
              <a:t>ombinar </a:t>
            </a:r>
            <a:r>
              <a:rPr lang="es-CL" b="1" dirty="0"/>
              <a:t>c()</a:t>
            </a:r>
          </a:p>
          <a:p>
            <a:pPr lvl="1"/>
            <a:r>
              <a:rPr lang="es-CL" dirty="0"/>
              <a:t>¿Qué tipo de datos podemos almacenar?</a:t>
            </a:r>
          </a:p>
          <a:p>
            <a:pPr lvl="1"/>
            <a:endParaRPr lang="es-CL" dirty="0"/>
          </a:p>
          <a:p>
            <a:r>
              <a:rPr lang="es-CL" dirty="0"/>
              <a:t>Los conjuntos de datos que son del mismo tipo, se denominan vectores (o también conocidos como variables).</a:t>
            </a:r>
          </a:p>
          <a:p>
            <a:pPr lvl="1"/>
            <a:r>
              <a:rPr lang="es-CL" dirty="0"/>
              <a:t>Podemos pensarlos como columnas en un </a:t>
            </a:r>
            <a:r>
              <a:rPr lang="es-CL" dirty="0" err="1"/>
              <a:t>excel</a:t>
            </a:r>
            <a:endParaRPr lang="es-C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BB729-B6B0-C028-4959-D6DC975CD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32" y="5281488"/>
            <a:ext cx="9078592" cy="895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DE69FB-99F6-CDDC-644D-10F43F0E1B47}"/>
              </a:ext>
            </a:extLst>
          </p:cNvPr>
          <p:cNvSpPr txBox="1"/>
          <p:nvPr/>
        </p:nvSpPr>
        <p:spPr>
          <a:xfrm>
            <a:off x="7666182" y="6238959"/>
            <a:ext cx="429490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https://bookdown.org/gboccardo/manual-ED-UCH/uso-basico-de-rstudio.html#manejo-basico-de-la-sintaxis-de-r-creacion-de-objetos-inclusion-de-anotaciones-y-definicion-de-secciones</a:t>
            </a:r>
          </a:p>
        </p:txBody>
      </p:sp>
    </p:spTree>
    <p:extLst>
      <p:ext uri="{BB962C8B-B14F-4D97-AF65-F5344CB8AC3E}">
        <p14:creationId xmlns:p14="http://schemas.microsoft.com/office/powerpoint/2010/main" val="298893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877B-4D35-5A62-2D4C-250435DD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Bases de datos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00F6-9FCD-9772-97A6-AB3FECC1E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 R podemos crear nuestras propias bases de datos, o podemos importarlas. </a:t>
            </a:r>
          </a:p>
          <a:p>
            <a:pPr lvl="1"/>
            <a:endParaRPr lang="es-CL" dirty="0"/>
          </a:p>
          <a:p>
            <a:r>
              <a:rPr lang="es-CL" dirty="0"/>
              <a:t>Si tenemos varios vectores, los podemos ordenar en una base de datos en la que cada vector es una columna.</a:t>
            </a:r>
          </a:p>
          <a:p>
            <a:endParaRPr lang="es-CL" dirty="0"/>
          </a:p>
          <a:p>
            <a:r>
              <a:rPr lang="es-CL" dirty="0"/>
              <a:t>La función </a:t>
            </a:r>
            <a:r>
              <a:rPr lang="es-CL" dirty="0" err="1">
                <a:solidFill>
                  <a:srgbClr val="FF0000"/>
                </a:solidFill>
              </a:rPr>
              <a:t>data.frame</a:t>
            </a:r>
            <a:r>
              <a:rPr lang="es-CL" dirty="0">
                <a:solidFill>
                  <a:srgbClr val="FF0000"/>
                </a:solidFill>
              </a:rPr>
              <a:t> </a:t>
            </a:r>
            <a:r>
              <a:rPr lang="es-CL" dirty="0"/>
              <a:t>nos ayuda a crear bases de datos.</a:t>
            </a:r>
          </a:p>
        </p:txBody>
      </p:sp>
    </p:spTree>
    <p:extLst>
      <p:ext uri="{BB962C8B-B14F-4D97-AF65-F5344CB8AC3E}">
        <p14:creationId xmlns:p14="http://schemas.microsoft.com/office/powerpoint/2010/main" val="185456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AFFE-F481-AAAC-1E0F-FCA38C40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</a:t>
            </a:r>
            <a:r>
              <a:rPr lang="es-CL"/>
              <a:t>Paréntesis!) Comentarios en 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C1EC-01F0-0B71-3EB6-9DF85F49D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 lo largo del código se pueden incorporar comentarios que no se ejecutan al momento de ejecutarlo. Estos comentarios se denotan con “#”</a:t>
            </a:r>
          </a:p>
          <a:p>
            <a:endParaRPr lang="es-CL" dirty="0"/>
          </a:p>
          <a:p>
            <a:r>
              <a:rPr lang="es-CL" dirty="0"/>
              <a:t>Si el texto está rodeado de al menos cuatro “-” R Studio lo considera como un título.</a:t>
            </a:r>
          </a:p>
          <a:p>
            <a:pPr lvl="1"/>
            <a:r>
              <a:rPr lang="es-CL" dirty="0"/>
              <a:t>Esto nos ayuda a ordenar el código y hacerlo más fácil de leer para otros.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7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AA91-E597-B92D-74D9-79CA13A3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Bases de datos en R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C9A57-27CC-100E-28B9-7E5BA1DD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2266788"/>
            <a:ext cx="8297433" cy="2324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5F817C-2C44-0F67-D290-67A67239894D}"/>
              </a:ext>
            </a:extLst>
          </p:cNvPr>
          <p:cNvSpPr txBox="1"/>
          <p:nvPr/>
        </p:nvSpPr>
        <p:spPr>
          <a:xfrm>
            <a:off x="9144811" y="6348549"/>
            <a:ext cx="2367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https://r4ds.hadley.nz/data-tidy</a:t>
            </a:r>
          </a:p>
        </p:txBody>
      </p:sp>
    </p:spTree>
    <p:extLst>
      <p:ext uri="{BB962C8B-B14F-4D97-AF65-F5344CB8AC3E}">
        <p14:creationId xmlns:p14="http://schemas.microsoft.com/office/powerpoint/2010/main" val="2308792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48F0E104-1460-F112-3B82-385B0F5BDA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Manejo de proyectos en 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781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34D7-F79A-ED94-1078-A7EF0084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B0B8C-E2F8-4925-8BE9-68B9ADB9A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R trabaja con distintos tipos de archivos asociados al ambiente (donde se encuentran los objetos) (.</a:t>
            </a:r>
            <a:r>
              <a:rPr lang="es-ES" dirty="0" err="1"/>
              <a:t>Rdata</a:t>
            </a:r>
            <a:r>
              <a:rPr lang="es-ES" dirty="0"/>
              <a:t>), el proyecto (.</a:t>
            </a:r>
            <a:r>
              <a:rPr lang="es-ES" dirty="0" err="1"/>
              <a:t>Rproj</a:t>
            </a:r>
            <a:r>
              <a:rPr lang="es-ES" dirty="0"/>
              <a:t>) y el historial de ejecución (</a:t>
            </a:r>
            <a:r>
              <a:rPr lang="es-ES" dirty="0" err="1"/>
              <a:t>R.history</a:t>
            </a:r>
            <a:r>
              <a:rPr lang="es-ES" dirty="0"/>
              <a:t>).</a:t>
            </a:r>
          </a:p>
          <a:p>
            <a:r>
              <a:rPr lang="es-ES" dirty="0"/>
              <a:t>Los proyectos permiten organizar las carpetas y archivos en un entorno </a:t>
            </a:r>
          </a:p>
          <a:p>
            <a:pPr marL="0" indent="0">
              <a:buNone/>
            </a:pPr>
            <a:endParaRPr lang="es-ES" dirty="0"/>
          </a:p>
          <a:p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5F92E-6C91-4D50-08B6-AF292F02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298" y="1690688"/>
            <a:ext cx="5393695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7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5474-90FB-8C9C-D7FC-14E97620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D9545-436F-F179-2E67-5891D6D0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483263"/>
            <a:ext cx="3390491" cy="2421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5249B-70D4-84DA-372D-DE601155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24695"/>
            <a:ext cx="738753" cy="382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542CE6-191C-8B52-A3AF-A349AAA83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962" y="1520993"/>
            <a:ext cx="3296016" cy="234631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B60A2F-9635-EC57-0F8C-9F6EC4FDC071}"/>
              </a:ext>
            </a:extLst>
          </p:cNvPr>
          <p:cNvCxnSpPr>
            <a:cxnSpLocks/>
          </p:cNvCxnSpPr>
          <p:nvPr/>
        </p:nvCxnSpPr>
        <p:spPr>
          <a:xfrm flipV="1">
            <a:off x="1670180" y="2606808"/>
            <a:ext cx="447869" cy="99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8E8950-A1E8-EE02-92BC-03505BCFEFF5}"/>
              </a:ext>
            </a:extLst>
          </p:cNvPr>
          <p:cNvCxnSpPr>
            <a:cxnSpLocks/>
          </p:cNvCxnSpPr>
          <p:nvPr/>
        </p:nvCxnSpPr>
        <p:spPr>
          <a:xfrm flipV="1">
            <a:off x="5779648" y="2507738"/>
            <a:ext cx="447869" cy="99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4329664-76EA-0206-239F-9436CFD06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89" y="4034286"/>
            <a:ext cx="4817122" cy="282371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B601CC-36F4-93C7-E10D-7BE54AD47F5A}"/>
              </a:ext>
            </a:extLst>
          </p:cNvPr>
          <p:cNvCxnSpPr>
            <a:cxnSpLocks/>
          </p:cNvCxnSpPr>
          <p:nvPr/>
        </p:nvCxnSpPr>
        <p:spPr>
          <a:xfrm flipH="1">
            <a:off x="6522734" y="4292082"/>
            <a:ext cx="1474236" cy="843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059DA06-E383-71B3-09C8-1134DF2FDD33}"/>
              </a:ext>
            </a:extLst>
          </p:cNvPr>
          <p:cNvSpPr txBox="1"/>
          <p:nvPr/>
        </p:nvSpPr>
        <p:spPr>
          <a:xfrm>
            <a:off x="5187710" y="370315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Crear</a:t>
            </a:r>
            <a:r>
              <a:rPr lang="en-US" dirty="0"/>
              <a:t> un nuevo Directorio o </a:t>
            </a:r>
            <a:r>
              <a:rPr lang="en-US" dirty="0" err="1"/>
              <a:t>utilizar</a:t>
            </a:r>
            <a:r>
              <a:rPr lang="en-US" dirty="0"/>
              <a:t> uno </a:t>
            </a:r>
            <a:r>
              <a:rPr lang="en-US" dirty="0" err="1"/>
              <a:t>existente</a:t>
            </a:r>
            <a:endParaRPr lang="en-00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0909C-F7BE-B640-548D-B68C2728A71C}"/>
              </a:ext>
            </a:extLst>
          </p:cNvPr>
          <p:cNvSpPr txBox="1"/>
          <p:nvPr/>
        </p:nvSpPr>
        <p:spPr>
          <a:xfrm>
            <a:off x="8829759" y="4099848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Proyecto </a:t>
            </a:r>
            <a:r>
              <a:rPr lang="en-US" dirty="0" err="1"/>
              <a:t>en</a:t>
            </a:r>
            <a:r>
              <a:rPr lang="en-US" dirty="0"/>
              <a:t> un Directorio que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en-US" dirty="0"/>
              <a:t>. Hay que </a:t>
            </a:r>
            <a:r>
              <a:rPr lang="en-US" dirty="0" err="1"/>
              <a:t>indicarle</a:t>
            </a:r>
            <a:r>
              <a:rPr lang="en-US" dirty="0"/>
              <a:t>.</a:t>
            </a:r>
            <a:endParaRPr lang="en-00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12451-A0AA-B36F-F9F4-8285A7B89B64}"/>
              </a:ext>
            </a:extLst>
          </p:cNvPr>
          <p:cNvSpPr txBox="1"/>
          <p:nvPr/>
        </p:nvSpPr>
        <p:spPr>
          <a:xfrm>
            <a:off x="6311191" y="5735815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¡Mirar bien la </a:t>
            </a:r>
            <a:r>
              <a:rPr lang="en-US" dirty="0" err="1"/>
              <a:t>secci</a:t>
            </a:r>
            <a:r>
              <a:rPr lang="es-ES" dirty="0" err="1"/>
              <a:t>ón</a:t>
            </a:r>
            <a:r>
              <a:rPr lang="es-ES" dirty="0"/>
              <a:t> de los archivos!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2697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5474-90FB-8C9C-D7FC-14E97620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F3C5A-29E7-5B8A-8FFF-EA3B64D5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38" y="959168"/>
            <a:ext cx="4953691" cy="461074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EDE21BD-9211-1C5A-5F53-42E6E3880B29}"/>
              </a:ext>
            </a:extLst>
          </p:cNvPr>
          <p:cNvSpPr/>
          <p:nvPr/>
        </p:nvSpPr>
        <p:spPr>
          <a:xfrm>
            <a:off x="6672072" y="1042416"/>
            <a:ext cx="859536" cy="6400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4111B4-336B-60C8-DDEF-4C1611A81881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196583" y="1737360"/>
            <a:ext cx="579121" cy="3017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C05A72-6B81-D717-D130-BAE3E6AE303F}"/>
              </a:ext>
            </a:extLst>
          </p:cNvPr>
          <p:cNvSpPr txBox="1"/>
          <p:nvPr/>
        </p:nvSpPr>
        <p:spPr>
          <a:xfrm>
            <a:off x="3526535" y="1577447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Podemos crear carpetas para organizar nuestro proyecto</a:t>
            </a:r>
            <a:endParaRPr lang="en-00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8A9A26-EB3D-EDF6-BB31-E8B3DB924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01" y="2984707"/>
            <a:ext cx="4906060" cy="4591691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E37F3136-C3E6-0D0B-F266-068D730E8F9E}"/>
              </a:ext>
            </a:extLst>
          </p:cNvPr>
          <p:cNvSpPr/>
          <p:nvPr/>
        </p:nvSpPr>
        <p:spPr>
          <a:xfrm>
            <a:off x="1078992" y="2743200"/>
            <a:ext cx="3130296" cy="29131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074F2E-1B2B-6400-F451-A6BCAC9AD34B}"/>
              </a:ext>
            </a:extLst>
          </p:cNvPr>
          <p:cNvSpPr txBox="1"/>
          <p:nvPr/>
        </p:nvSpPr>
        <p:spPr>
          <a:xfrm>
            <a:off x="4268968" y="4923581"/>
            <a:ext cx="26700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 es la forma en la que organizo normalmente mis proyectos… ¡Pero tú lo puedes organizar como quieras!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5479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23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43DF-167C-F838-3AB9-6D1387DB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E3732-0EB7-F9B1-C9B1-2264742F1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Podemos incorporar en la carpeta “Scripts” todos nuestros códigos! Agregando un nuevo “</a:t>
            </a:r>
            <a:r>
              <a:rPr lang="es-ES" dirty="0" err="1"/>
              <a:t>blank</a:t>
            </a:r>
            <a:r>
              <a:rPr lang="es-ES" dirty="0"/>
              <a:t> file” a la carpeta.</a:t>
            </a:r>
          </a:p>
          <a:p>
            <a:r>
              <a:rPr lang="es-ES" dirty="0"/>
              <a:t>También hay otros archivos que podemos utilizar (</a:t>
            </a:r>
            <a:r>
              <a:rPr lang="es-ES" dirty="0" err="1"/>
              <a:t>Markdown</a:t>
            </a:r>
            <a:r>
              <a:rPr lang="es-ES" dirty="0"/>
              <a:t> y </a:t>
            </a:r>
            <a:r>
              <a:rPr lang="es-ES" dirty="0" err="1"/>
              <a:t>Quatro</a:t>
            </a:r>
            <a:r>
              <a:rPr lang="es-ES" dirty="0"/>
              <a:t>, pero eso lo veremos más adelante…)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7A811-96A9-BDDB-089A-D6AAF55C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026" y="1676869"/>
            <a:ext cx="4906060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8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A0DA-8E87-8BE4-3E29-823E0BDB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8190-3213-4AEC-DF77-A8C7D9660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Cuando estamos trabajando en un proyecto, también podemos definir nuestro directorio de trabajo (los archivos que creamos se guardan automáticamente en ese directorio).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CA24D-0868-2427-D35F-8E61AB6F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37" y="1476628"/>
            <a:ext cx="4944165" cy="456311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AFDDB3-B6E2-B257-37CB-1B4D496823C6}"/>
              </a:ext>
            </a:extLst>
          </p:cNvPr>
          <p:cNvCxnSpPr>
            <a:cxnSpLocks/>
          </p:cNvCxnSpPr>
          <p:nvPr/>
        </p:nvCxnSpPr>
        <p:spPr>
          <a:xfrm flipH="1" flipV="1">
            <a:off x="3361169" y="5721751"/>
            <a:ext cx="697647" cy="1192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7BE148-59CD-265B-F0B2-D649B4D9A42B}"/>
              </a:ext>
            </a:extLst>
          </p:cNvPr>
          <p:cNvSpPr txBox="1"/>
          <p:nvPr/>
        </p:nvSpPr>
        <p:spPr>
          <a:xfrm>
            <a:off x="4215540" y="5240798"/>
            <a:ext cx="2670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También podemos escribir el código para obtener el directorio que trabajaremos (</a:t>
            </a:r>
            <a:r>
              <a:rPr lang="es-ES" dirty="0" err="1"/>
              <a:t>getwd</a:t>
            </a:r>
            <a:r>
              <a:rPr lang="es-ES" dirty="0"/>
              <a:t>) y definirlo (</a:t>
            </a:r>
            <a:r>
              <a:rPr lang="es-ES" dirty="0" err="1"/>
              <a:t>setwd</a:t>
            </a:r>
            <a:r>
              <a:rPr lang="es-ES" dirty="0"/>
              <a:t>)</a:t>
            </a:r>
            <a:endParaRPr lang="en-00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0E6D2-D866-9007-8B6D-3EF8D88AB913}"/>
              </a:ext>
            </a:extLst>
          </p:cNvPr>
          <p:cNvSpPr txBox="1"/>
          <p:nvPr/>
        </p:nvSpPr>
        <p:spPr>
          <a:xfrm>
            <a:off x="1017329" y="5247336"/>
            <a:ext cx="3816624" cy="101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"02_Datos"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4045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7B6D-EAB4-9656-34C5-BCCC745A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Creando tablas de datos</a:t>
            </a:r>
            <a:endParaRPr lang="en-00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33C482-F4F3-091A-D96B-F2B2CFF89777}"/>
              </a:ext>
            </a:extLst>
          </p:cNvPr>
          <p:cNvCxnSpPr/>
          <p:nvPr/>
        </p:nvCxnSpPr>
        <p:spPr>
          <a:xfrm flipH="1">
            <a:off x="4592855" y="2598313"/>
            <a:ext cx="2453951" cy="3918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24F019-B1E8-2245-68DC-837568040257}"/>
              </a:ext>
            </a:extLst>
          </p:cNvPr>
          <p:cNvSpPr txBox="1"/>
          <p:nvPr/>
        </p:nvSpPr>
        <p:spPr>
          <a:xfrm>
            <a:off x="7167934" y="2044004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 a</a:t>
            </a:r>
            <a:r>
              <a:rPr lang="es-ES" dirty="0" err="1"/>
              <a:t>ñade</a:t>
            </a:r>
            <a:r>
              <a:rPr lang="es-ES" dirty="0"/>
              <a:t> una columna adicional en nuestro data </a:t>
            </a:r>
            <a:r>
              <a:rPr lang="es-ES" dirty="0" err="1"/>
              <a:t>frame</a:t>
            </a:r>
            <a:endParaRPr lang="en-00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977409-BC4C-4480-97E0-BC2FFE9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091" y="2505669"/>
            <a:ext cx="2438740" cy="1162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710843-1CC0-305E-B4AE-0665ADBF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565" y="446800"/>
            <a:ext cx="1733792" cy="116221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C91541-C260-263F-6C53-0397381C9BFD}"/>
              </a:ext>
            </a:extLst>
          </p:cNvPr>
          <p:cNvCxnSpPr>
            <a:cxnSpLocks/>
          </p:cNvCxnSpPr>
          <p:nvPr/>
        </p:nvCxnSpPr>
        <p:spPr>
          <a:xfrm>
            <a:off x="10899648" y="1772363"/>
            <a:ext cx="0" cy="5345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C939AA-0584-DE41-EE0D-DB11F95C9475}"/>
              </a:ext>
            </a:extLst>
          </p:cNvPr>
          <p:cNvSpPr txBox="1"/>
          <p:nvPr/>
        </p:nvSpPr>
        <p:spPr>
          <a:xfrm>
            <a:off x="5304416" y="5194416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Esta </a:t>
            </a:r>
            <a:r>
              <a:rPr lang="en-US" dirty="0" err="1"/>
              <a:t>funci</a:t>
            </a:r>
            <a:r>
              <a:rPr lang="es-ES" dirty="0" err="1"/>
              <a:t>ón</a:t>
            </a:r>
            <a:r>
              <a:rPr lang="es-ES" dirty="0"/>
              <a:t> también hace lo mismo </a:t>
            </a:r>
            <a:r>
              <a:rPr lang="es-ES" b="1" dirty="0"/>
              <a:t>(</a:t>
            </a:r>
            <a:r>
              <a:rPr lang="es-ES" b="1" dirty="0" err="1"/>
              <a:t>tidyverse</a:t>
            </a:r>
            <a:r>
              <a:rPr lang="es-ES" b="1" dirty="0"/>
              <a:t>)</a:t>
            </a:r>
            <a:endParaRPr lang="en-001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8917B4-82B7-A740-9C6D-3E391F600DA5}"/>
              </a:ext>
            </a:extLst>
          </p:cNvPr>
          <p:cNvCxnSpPr>
            <a:cxnSpLocks/>
          </p:cNvCxnSpPr>
          <p:nvPr/>
        </p:nvCxnSpPr>
        <p:spPr>
          <a:xfrm flipH="1">
            <a:off x="4284594" y="5551973"/>
            <a:ext cx="1019822" cy="1041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84FD84-1966-4137-A090-7C3A3F9F67DF}"/>
              </a:ext>
            </a:extLst>
          </p:cNvPr>
          <p:cNvCxnSpPr>
            <a:cxnSpLocks/>
          </p:cNvCxnSpPr>
          <p:nvPr/>
        </p:nvCxnSpPr>
        <p:spPr>
          <a:xfrm flipH="1">
            <a:off x="4763423" y="3867803"/>
            <a:ext cx="1876017" cy="1122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3B9058-2BEB-D90F-0F15-CD824D01AB68}"/>
              </a:ext>
            </a:extLst>
          </p:cNvPr>
          <p:cNvSpPr txBox="1"/>
          <p:nvPr/>
        </p:nvSpPr>
        <p:spPr>
          <a:xfrm>
            <a:off x="6979425" y="3559532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¡Esta </a:t>
            </a:r>
            <a:r>
              <a:rPr lang="en-US" dirty="0" err="1"/>
              <a:t>funci</a:t>
            </a:r>
            <a:r>
              <a:rPr lang="es-ES" dirty="0" err="1"/>
              <a:t>ón</a:t>
            </a:r>
            <a:r>
              <a:rPr lang="es-ES" dirty="0"/>
              <a:t> también sirve!</a:t>
            </a:r>
            <a:endParaRPr lang="en-00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9DF199-C05D-34B7-060C-5347263EEF27}"/>
              </a:ext>
            </a:extLst>
          </p:cNvPr>
          <p:cNvSpPr/>
          <p:nvPr/>
        </p:nvSpPr>
        <p:spPr>
          <a:xfrm>
            <a:off x="466531" y="4646645"/>
            <a:ext cx="7507933" cy="204340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91455-9A53-220E-DDA6-987D98A3059B}"/>
              </a:ext>
            </a:extLst>
          </p:cNvPr>
          <p:cNvSpPr txBox="1"/>
          <p:nvPr/>
        </p:nvSpPr>
        <p:spPr>
          <a:xfrm>
            <a:off x="676843" y="1499377"/>
            <a:ext cx="6094473" cy="101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s-MX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s-MX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57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4934FA-614E-FA7D-ADB3-2EB448344429}"/>
              </a:ext>
            </a:extLst>
          </p:cNvPr>
          <p:cNvSpPr txBox="1"/>
          <p:nvPr/>
        </p:nvSpPr>
        <p:spPr>
          <a:xfrm>
            <a:off x="664378" y="2537704"/>
            <a:ext cx="6094476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data.frame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data.frame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cbind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D834E4-F9B8-A626-5533-7B36C732FDBF}"/>
              </a:ext>
            </a:extLst>
          </p:cNvPr>
          <p:cNvSpPr txBox="1"/>
          <p:nvPr/>
        </p:nvSpPr>
        <p:spPr>
          <a:xfrm>
            <a:off x="1237356" y="5157978"/>
            <a:ext cx="6094476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library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tidyverse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tibble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112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8" grpId="0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68AEB75B-4DC6-8FC7-A86B-795F9590D9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Algunas funciones y flujo de trabajo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928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091D-E84E-BD69-2D83-2D01F94E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pipa </a:t>
            </a:r>
            <a:r>
              <a:rPr lang="en-US" dirty="0" err="1"/>
              <a:t>en</a:t>
            </a:r>
            <a:r>
              <a:rPr lang="en-US" dirty="0"/>
              <a:t>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80AFF-B515-928A-8525-139D7F699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4745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El </a:t>
            </a:r>
            <a:r>
              <a:rPr lang="en-US" dirty="0" err="1"/>
              <a:t>indicador</a:t>
            </a:r>
            <a:r>
              <a:rPr lang="en-US" dirty="0"/>
              <a:t> de pipa (pipe) </a:t>
            </a:r>
            <a:r>
              <a:rPr lang="en-US" dirty="0" err="1"/>
              <a:t>permite</a:t>
            </a:r>
            <a:r>
              <a:rPr lang="en-US" dirty="0"/>
              <a:t> “pasar</a:t>
            </a:r>
            <a:r>
              <a:rPr lang="es-ES" dirty="0"/>
              <a:t>” un objeto a través de una función sin tener que repetir el nombre del objeto en el primer argumento de la función</a:t>
            </a:r>
          </a:p>
          <a:p>
            <a:endParaRPr lang="es-ES" dirty="0"/>
          </a:p>
          <a:p>
            <a:r>
              <a:rPr lang="es-ES" dirty="0"/>
              <a:t>Este indicador estaba originalmente en el paquete “</a:t>
            </a:r>
            <a:r>
              <a:rPr lang="es-ES" dirty="0" err="1"/>
              <a:t>magrittr</a:t>
            </a:r>
            <a:r>
              <a:rPr lang="es-ES" dirty="0"/>
              <a:t>” (%&gt;%), pero desde R 4.1 viene de base en R (|&gt;)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1AAB2-8063-D1A9-7F4E-D6029545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601" y="2213375"/>
            <a:ext cx="3879917" cy="204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76A8D0-11D6-8E7A-669B-9ED93150A3E5}"/>
              </a:ext>
            </a:extLst>
          </p:cNvPr>
          <p:cNvSpPr/>
          <p:nvPr/>
        </p:nvSpPr>
        <p:spPr>
          <a:xfrm>
            <a:off x="7365601" y="3715941"/>
            <a:ext cx="4077478" cy="570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5D6E15-6C43-CF5D-DEB9-42789A86D3C8}"/>
              </a:ext>
            </a:extLst>
          </p:cNvPr>
          <p:cNvSpPr/>
          <p:nvPr/>
        </p:nvSpPr>
        <p:spPr>
          <a:xfrm>
            <a:off x="7365601" y="3330734"/>
            <a:ext cx="4077478" cy="385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33BA7A-3BA5-0359-AD01-6ACECB0D1DB8}"/>
              </a:ext>
            </a:extLst>
          </p:cNvPr>
          <p:cNvCxnSpPr>
            <a:cxnSpLocks/>
          </p:cNvCxnSpPr>
          <p:nvPr/>
        </p:nvCxnSpPr>
        <p:spPr>
          <a:xfrm flipV="1">
            <a:off x="9427464" y="4453128"/>
            <a:ext cx="0" cy="4647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20D161F-688F-072A-9A47-FDC5D53D6ED2}"/>
              </a:ext>
            </a:extLst>
          </p:cNvPr>
          <p:cNvSpPr txBox="1"/>
          <p:nvPr/>
        </p:nvSpPr>
        <p:spPr>
          <a:xfrm>
            <a:off x="8385944" y="5084380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¡Estas funciones son equivalentes!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131203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9754-6ACE-3603-DD75-75CE4A58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Utilicemos lo aprendido en algunas funciones básicas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34CA-3439-2C2E-FB3C-8CCF21F8D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Primero, vamos a limpiar nuestro ambiente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Vamos a trabajar con algunos datos!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AC104-2DD5-3205-E0AB-A072F6A2C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4972744" cy="27340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20CF9D-67FF-7B9E-D2D3-742F6675E4EE}"/>
              </a:ext>
            </a:extLst>
          </p:cNvPr>
          <p:cNvSpPr/>
          <p:nvPr/>
        </p:nvSpPr>
        <p:spPr>
          <a:xfrm>
            <a:off x="8582372" y="1903445"/>
            <a:ext cx="341485" cy="339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1CC8DC-9942-4E44-23AE-6BF9481305FA}"/>
              </a:ext>
            </a:extLst>
          </p:cNvPr>
          <p:cNvCxnSpPr>
            <a:cxnSpLocks/>
          </p:cNvCxnSpPr>
          <p:nvPr/>
        </p:nvCxnSpPr>
        <p:spPr>
          <a:xfrm flipH="1" flipV="1">
            <a:off x="9007832" y="2243243"/>
            <a:ext cx="503607" cy="2575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AE278C-3CBA-B993-279E-856A5A4A3FAE}"/>
              </a:ext>
            </a:extLst>
          </p:cNvPr>
          <p:cNvSpPr txBox="1"/>
          <p:nvPr/>
        </p:nvSpPr>
        <p:spPr>
          <a:xfrm>
            <a:off x="8385944" y="5084380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¡Esta escoba hace el trabajo!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399882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D1E0-AC77-6D8F-8B25-6F5441E5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de muestra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279C-FC34-DD0B-6594-01C94874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R Studio tiene algunos </a:t>
            </a:r>
            <a:r>
              <a:rPr lang="es-ES" dirty="0" err="1"/>
              <a:t>datasets</a:t>
            </a:r>
            <a:r>
              <a:rPr lang="es-ES" dirty="0"/>
              <a:t> con los cuales hacer pruebas y practicar</a:t>
            </a:r>
          </a:p>
          <a:p>
            <a:endParaRPr lang="es-ES" dirty="0"/>
          </a:p>
          <a:p>
            <a:r>
              <a:rPr lang="es-ES" dirty="0"/>
              <a:t>Se ejecutan con el comando </a:t>
            </a:r>
            <a:r>
              <a:rPr lang="es-ES" b="1" dirty="0"/>
              <a:t>“data()”</a:t>
            </a:r>
          </a:p>
          <a:p>
            <a:endParaRPr lang="es-ES" b="1" dirty="0"/>
          </a:p>
          <a:p>
            <a:r>
              <a:rPr lang="es-ES" dirty="0"/>
              <a:t>Utilizaremos los de “</a:t>
            </a:r>
            <a:r>
              <a:rPr lang="es-ES" dirty="0" err="1"/>
              <a:t>trees</a:t>
            </a:r>
            <a:r>
              <a:rPr lang="es-ES" dirty="0"/>
              <a:t>” para nuestro ejercicio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7E3EF-A002-FD81-8528-7FD4B256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467" y="2047146"/>
            <a:ext cx="5582027" cy="39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6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F97B-CD48-FD0B-B327-8193F620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de muestra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28CF-3CE8-F409-A4DB-CA2181BC5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Pueden explorar los datos apretando “F1” cuando hacen </a:t>
            </a:r>
            <a:r>
              <a:rPr lang="es-ES" dirty="0" err="1"/>
              <a:t>click</a:t>
            </a:r>
            <a:r>
              <a:rPr lang="es-ES" dirty="0"/>
              <a:t> sobre los datos a ejecutar.</a:t>
            </a:r>
          </a:p>
          <a:p>
            <a:endParaRPr lang="es-ES" dirty="0"/>
          </a:p>
          <a:p>
            <a:r>
              <a:rPr lang="es-ES" dirty="0"/>
              <a:t>Pueden observar la descripción de cada una de las variables en el panel de ayuda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4329F-EE38-B28F-C3E1-438682560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5809606" cy="33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7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AF08-C0E9-CE62-B9C0-29EE7FCA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Estadísticas básicas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1270-0EAE-0357-AA13-CD230079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 tiene por defecto algunas pruebas estadísticas y parámetros de los datos</a:t>
            </a:r>
          </a:p>
          <a:p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Podemos hacer algunos cálculos simples de cada una de las columnas utilizando la función y “$” para designar la columna</a:t>
            </a:r>
          </a:p>
          <a:p>
            <a:endParaRPr lang="es-E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 la función </a:t>
            </a:r>
            <a:r>
              <a:rPr lang="es-ES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summary</a:t>
            </a:r>
            <a:r>
              <a:rPr lang="es-E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</a:t>
            </a:r>
            <a:r>
              <a:rPr lang="es-E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también podemos hacer un resumen de las variables</a:t>
            </a:r>
            <a:endParaRPr lang="en-00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7FFBA-F431-852C-E793-CB9A7C75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322" y="3127342"/>
            <a:ext cx="5109920" cy="15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8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596E-5C29-DD79-240A-F01B63F6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 de una nueva columna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CCAB-8EDC-5306-E1B3-F165EF3C2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Podemos calcular una nueva columna utilizando la asignación y la función que queremos calcular.</a:t>
            </a:r>
          </a:p>
          <a:p>
            <a:r>
              <a:rPr lang="es-ES" dirty="0"/>
              <a:t>Supongamos que queremos calcular la relación entre el volumen y la altura para cada uno de los árboles</a:t>
            </a:r>
          </a:p>
          <a:p>
            <a:endParaRPr lang="es-ES" dirty="0"/>
          </a:p>
          <a:p>
            <a:r>
              <a:rPr lang="es-ES" dirty="0"/>
              <a:t>La función devuelve una nueva columna llamada “</a:t>
            </a:r>
            <a:r>
              <a:rPr lang="es-ES" dirty="0" err="1"/>
              <a:t>tres$vol_alt</a:t>
            </a:r>
            <a:r>
              <a:rPr lang="es-E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A54D1-10B5-259A-DFA9-82394F04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372" y="2971800"/>
            <a:ext cx="4789488" cy="2968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87E23E-88C5-A14B-DD81-E88E0EBFCED6}"/>
              </a:ext>
            </a:extLst>
          </p:cNvPr>
          <p:cNvSpPr/>
          <p:nvPr/>
        </p:nvSpPr>
        <p:spPr>
          <a:xfrm>
            <a:off x="9597356" y="3017386"/>
            <a:ext cx="341485" cy="339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8D3D9F-6627-A8DF-7400-1E5D676B382F}"/>
              </a:ext>
            </a:extLst>
          </p:cNvPr>
          <p:cNvCxnSpPr>
            <a:cxnSpLocks/>
          </p:cNvCxnSpPr>
          <p:nvPr/>
        </p:nvCxnSpPr>
        <p:spPr>
          <a:xfrm flipH="1" flipV="1">
            <a:off x="10022816" y="3357184"/>
            <a:ext cx="347231" cy="6753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EDA8A7-25C3-B354-B3BF-3A8131BD1D28}"/>
              </a:ext>
            </a:extLst>
          </p:cNvPr>
          <p:cNvSpPr txBox="1"/>
          <p:nvPr/>
        </p:nvSpPr>
        <p:spPr>
          <a:xfrm>
            <a:off x="9521952" y="3973259"/>
            <a:ext cx="267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¡Esto es una división!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367809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F008-307E-8FEF-8331-81DC3816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545B-2551-B500-A7AA-6E7DEBF1C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Supongamos ahora que queremos calcular el volumen de madera de cada uno de los árboles, asumiendo que alrededor del 87% del árbol es madera (el resto es agua…)</a:t>
            </a:r>
          </a:p>
          <a:p>
            <a:r>
              <a:rPr lang="es-ES" dirty="0"/>
              <a:t>¿Cómo calculamos el volumen de madera para cada árbol?</a:t>
            </a:r>
          </a:p>
          <a:p>
            <a:r>
              <a:rPr lang="es-ES" dirty="0"/>
              <a:t>¿Cuánto es el volumen total de madera que obtengo de mis árboles?</a:t>
            </a:r>
          </a:p>
          <a:p>
            <a:r>
              <a:rPr lang="es-ES" dirty="0"/>
              <a:t>¿Cuánto es el volumen de madera promedio que obtengo de la muestra?</a:t>
            </a:r>
          </a:p>
          <a:p>
            <a:r>
              <a:rPr lang="es-ES" dirty="0"/>
              <a:t>Después queremos guardar nuestros datos...</a:t>
            </a:r>
          </a:p>
        </p:txBody>
      </p:sp>
    </p:spTree>
    <p:extLst>
      <p:ext uri="{BB962C8B-B14F-4D97-AF65-F5344CB8AC3E}">
        <p14:creationId xmlns:p14="http://schemas.microsoft.com/office/powerpoint/2010/main" val="51880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2AF6-E322-42BB-CD45-8F90DC6E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Guardando datos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9BDC-A417-5065-9A8D-4CBF7CC6D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función write.csv</a:t>
            </a:r>
          </a:p>
          <a:p>
            <a:r>
              <a:rPr lang="es-ES" dirty="0"/>
              <a:t>El primer parámetro del argumento es el </a:t>
            </a:r>
            <a:r>
              <a:rPr lang="es-ES" dirty="0" err="1"/>
              <a:t>dataframe</a:t>
            </a:r>
            <a:r>
              <a:rPr lang="es-ES" dirty="0"/>
              <a:t> que queremos guardar.</a:t>
            </a:r>
          </a:p>
          <a:p>
            <a:r>
              <a:rPr lang="es-ES" dirty="0"/>
              <a:t>El segundo parámetro es el dónde lo queremos guardar</a:t>
            </a:r>
          </a:p>
          <a:p>
            <a:endParaRPr lang="es-ES" dirty="0"/>
          </a:p>
          <a:p>
            <a:r>
              <a:rPr lang="es-ES" dirty="0"/>
              <a:t>Ejercicio</a:t>
            </a:r>
          </a:p>
          <a:p>
            <a:pPr lvl="1"/>
            <a:r>
              <a:rPr lang="es-ES" dirty="0"/>
              <a:t>Guarda los datos originales de la tabla “</a:t>
            </a:r>
            <a:r>
              <a:rPr lang="es-ES" dirty="0" err="1"/>
              <a:t>trees</a:t>
            </a:r>
            <a:r>
              <a:rPr lang="es-ES" dirty="0"/>
              <a:t>” como </a:t>
            </a:r>
            <a:r>
              <a:rPr lang="es-ES" dirty="0" err="1"/>
              <a:t>csv</a:t>
            </a:r>
            <a:r>
              <a:rPr lang="es-ES" dirty="0"/>
              <a:t> en la carpeta “01_Datos”</a:t>
            </a:r>
          </a:p>
          <a:p>
            <a:pPr lvl="1"/>
            <a:r>
              <a:rPr lang="es-ES" dirty="0"/>
              <a:t>Guarda la tabla “</a:t>
            </a:r>
            <a:r>
              <a:rPr lang="es-ES" dirty="0" err="1"/>
              <a:t>summary</a:t>
            </a:r>
            <a:r>
              <a:rPr lang="es-ES" dirty="0"/>
              <a:t>” como </a:t>
            </a:r>
            <a:r>
              <a:rPr lang="es-ES" dirty="0" err="1"/>
              <a:t>csv</a:t>
            </a:r>
            <a:r>
              <a:rPr lang="es-ES" dirty="0"/>
              <a:t> en la carpeta “04_Resultados”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79032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2108</TotalTime>
  <Words>1608</Words>
  <Application>Microsoft Office PowerPoint</Application>
  <PresentationFormat>Panorámica</PresentationFormat>
  <Paragraphs>183</Paragraphs>
  <Slides>41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7" baseType="lpstr">
      <vt:lpstr>Aptos</vt:lpstr>
      <vt:lpstr>Aptos Display</vt:lpstr>
      <vt:lpstr>Arial</vt:lpstr>
      <vt:lpstr>Calibri Light</vt:lpstr>
      <vt:lpstr>Consolas</vt:lpstr>
      <vt:lpstr>Office Theme</vt:lpstr>
      <vt:lpstr>Análisis socioespacial</vt:lpstr>
      <vt:lpstr>¿Por qué aprender un lenguaje de programación?</vt:lpstr>
      <vt:lpstr>Presentación de PowerPoint</vt:lpstr>
      <vt:lpstr>Presentación de PowerPoint</vt:lpstr>
      <vt:lpstr>¿Qué es R?</vt:lpstr>
      <vt:lpstr>R (?)</vt:lpstr>
      <vt:lpstr>R (?) – Algunas ventajas</vt:lpstr>
      <vt:lpstr>R (?) – Algunas desventajas</vt:lpstr>
      <vt:lpstr>Presentación de PowerPoint</vt:lpstr>
      <vt:lpstr>Sin embargo… ¡R Studio nos ayuda con esto!</vt:lpstr>
      <vt:lpstr>Sin embargo… ¡R Studio nos ayuda con esto!</vt:lpstr>
      <vt:lpstr>Buenas prácticas para en programación </vt:lpstr>
      <vt:lpstr>R Studio, manejo e interfaz de proyectos</vt:lpstr>
      <vt:lpstr>Interfaz de R Studio</vt:lpstr>
      <vt:lpstr>¿Cómo descargar R y R Studio?</vt:lpstr>
      <vt:lpstr>Presentación de PowerPoint</vt:lpstr>
      <vt:lpstr>Sintaxis básica</vt:lpstr>
      <vt:lpstr>Sintaxis básica en R</vt:lpstr>
      <vt:lpstr>Sintaxis básica en R</vt:lpstr>
      <vt:lpstr>Sintaxis básica en R</vt:lpstr>
      <vt:lpstr>Operadores básicos</vt:lpstr>
      <vt:lpstr>Objetos en R</vt:lpstr>
      <vt:lpstr>Bases de datos en R</vt:lpstr>
      <vt:lpstr>(Paréntesis!) Comentarios en R</vt:lpstr>
      <vt:lpstr>Bases de datos en R</vt:lpstr>
      <vt:lpstr>Manejo de proyectos en R</vt:lpstr>
      <vt:lpstr>Proyectos</vt:lpstr>
      <vt:lpstr>Proyectos en R</vt:lpstr>
      <vt:lpstr>Proyectos en R</vt:lpstr>
      <vt:lpstr>Proyectos en R</vt:lpstr>
      <vt:lpstr>Proyectos en R</vt:lpstr>
      <vt:lpstr>Creando tablas de datos</vt:lpstr>
      <vt:lpstr>Algunas funciones y flujo de trabajo</vt:lpstr>
      <vt:lpstr>La pipa en R</vt:lpstr>
      <vt:lpstr>Utilicemos lo aprendido en algunas funciones básicas</vt:lpstr>
      <vt:lpstr>Datos de muestra en R</vt:lpstr>
      <vt:lpstr>Datos de muestra en R</vt:lpstr>
      <vt:lpstr>Estadísticas básicas</vt:lpstr>
      <vt:lpstr>Cálculo de una nueva columna</vt:lpstr>
      <vt:lpstr>Ejercicio</vt:lpstr>
      <vt:lpstr>Guardando datos en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 y análisis espacial en R</dc:title>
  <dc:creator>Sebastián Andrés Baeza González</dc:creator>
  <cp:lastModifiedBy>Kelly Constanza Yubini Yubini</cp:lastModifiedBy>
  <cp:revision>185</cp:revision>
  <dcterms:created xsi:type="dcterms:W3CDTF">2024-03-01T13:41:57Z</dcterms:created>
  <dcterms:modified xsi:type="dcterms:W3CDTF">2026-09-22T17:57:55Z</dcterms:modified>
</cp:coreProperties>
</file>